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8" r:id="rId5"/>
    <p:sldId id="268" r:id="rId6"/>
    <p:sldId id="260" r:id="rId7"/>
    <p:sldId id="261" r:id="rId8"/>
    <p:sldId id="269" r:id="rId9"/>
    <p:sldId id="270" r:id="rId10"/>
    <p:sldId id="262" r:id="rId11"/>
    <p:sldId id="257" r:id="rId12"/>
    <p:sldId id="271" r:id="rId13"/>
    <p:sldId id="272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546860" y="180340"/>
            <a:ext cx="9655810" cy="1586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US" altLang="en-GB" sz="2800">
                <a:solidFill>
                  <a:schemeClr val="tx1"/>
                </a:solidFill>
                <a:latin typeface="Broadway" panose="04040905080B02020502" charset="0"/>
                <a:cs typeface="Broadway" panose="04040905080B02020502" charset="0"/>
                <a:sym typeface="+mn-ea"/>
              </a:rPr>
              <a:t>Road Accident Analysis India 2020 – </a:t>
            </a:r>
            <a:endParaRPr lang="en-US" altLang="en-GB" sz="2800">
              <a:solidFill>
                <a:schemeClr val="tx1"/>
              </a:solidFill>
              <a:latin typeface="Broadway" panose="04040905080B02020502" charset="0"/>
              <a:cs typeface="Broadway" panose="04040905080B02020502" charset="0"/>
              <a:sym typeface="+mn-ea"/>
            </a:endParaRPr>
          </a:p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US" altLang="en-GB" sz="2800">
                <a:solidFill>
                  <a:schemeClr val="tx1"/>
                </a:solidFill>
                <a:latin typeface="Broadway" panose="04040905080B02020502" charset="0"/>
                <a:cs typeface="Broadway" panose="04040905080B02020502" charset="0"/>
                <a:sym typeface="+mn-ea"/>
              </a:rPr>
              <a:t>AI-Powered Policy Simulation and </a:t>
            </a:r>
            <a:endParaRPr lang="en-US" altLang="en-GB" sz="2800">
              <a:solidFill>
                <a:schemeClr val="tx1"/>
              </a:solidFill>
              <a:latin typeface="Broadway" panose="04040905080B02020502" charset="0"/>
              <a:cs typeface="Broadway" panose="04040905080B02020502" charset="0"/>
              <a:sym typeface="+mn-ea"/>
            </a:endParaRPr>
          </a:p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US" altLang="en-GB" sz="2800">
                <a:solidFill>
                  <a:schemeClr val="tx1"/>
                </a:solidFill>
                <a:latin typeface="Broadway" panose="04040905080B02020502" charset="0"/>
                <a:cs typeface="Broadway" panose="04040905080B02020502" charset="0"/>
                <a:sym typeface="+mn-ea"/>
              </a:rPr>
              <a:t>Predictive Modeling</a:t>
            </a:r>
            <a:endParaRPr lang="en-US" altLang="en-GB" sz="2800">
              <a:solidFill>
                <a:schemeClr val="tx1"/>
              </a:solidFill>
              <a:latin typeface="Broadway" panose="04040905080B02020502" charset="0"/>
              <a:cs typeface="Broadway" panose="04040905080B02020502" charset="0"/>
              <a:sym typeface="+mn-ea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107950" y="6334760"/>
            <a:ext cx="2340610" cy="35242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/>
            <a:r>
              <a:rPr lang="en-US" altLang="en-GB" sz="17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Platform:</a:t>
            </a:r>
            <a:r>
              <a:rPr lang="en-US" altLang="en-GB" sz="17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Google Colab</a:t>
            </a:r>
            <a:endParaRPr lang="en-US" altLang="en-GB" sz="1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2"/>
          <p:cNvSpPr txBox="1"/>
          <p:nvPr/>
        </p:nvSpPr>
        <p:spPr>
          <a:xfrm>
            <a:off x="9022715" y="6334760"/>
            <a:ext cx="3002280" cy="35242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/>
            <a:r>
              <a:rPr lang="en-US" altLang="en-GB" sz="17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Presented by:</a:t>
            </a:r>
            <a:r>
              <a:rPr lang="en-US" altLang="en-GB" sz="17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Sahana</a:t>
            </a:r>
            <a:r>
              <a:rPr lang="en-IN" altLang="en-US" sz="17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Sunddher</a:t>
            </a:r>
            <a:endParaRPr lang="en-US" altLang="en-GB" sz="1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/>
          <p:nvPr/>
        </p:nvPicPr>
        <p:blipFill>
          <a:blip r:embed="rId1"/>
          <a:srcRect b="10584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61950" y="678815"/>
            <a:ext cx="5623560" cy="320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altLang="en-GB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Introduction</a:t>
            </a:r>
            <a:endParaRPr lang="en-IN" altLang="en-GB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514350" indent="-5143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altLang="en-GB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Project Workflow Overview</a:t>
            </a:r>
            <a:endParaRPr lang="en-IN" altLang="en-GB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en-GB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Dataset </a:t>
            </a:r>
            <a:r>
              <a:rPr lang="en-US" altLang="en-GB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Overview</a:t>
            </a:r>
            <a:endParaRPr lang="en-US" altLang="en-GB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en-GB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Preparation, Exploration &amp; ML Modeling</a:t>
            </a:r>
            <a:endParaRPr lang="en-US" altLang="en-GB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Examples</a:t>
            </a:r>
            <a:endParaRPr lang="en-I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altLang="en-US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My </a:t>
            </a:r>
            <a:r>
              <a:rPr lang="en-US" altLang="en-GB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Novelty</a:t>
            </a:r>
            <a:endParaRPr lang="en-US" altLang="en-GB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altLang="en-US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Future Scope</a:t>
            </a:r>
            <a:endParaRPr lang="en-IN" altLang="en-US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altLang="en-US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Conclusion</a:t>
            </a:r>
            <a:endParaRPr lang="en-I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Text 1"/>
          <p:cNvSpPr/>
          <p:nvPr/>
        </p:nvSpPr>
        <p:spPr>
          <a:xfrm>
            <a:off x="361950" y="-250825"/>
            <a:ext cx="5362575" cy="828040"/>
          </a:xfrm>
          <a:prstGeom prst="rect">
            <a:avLst/>
          </a:prstGeom>
          <a:noFill/>
        </p:spPr>
        <p:txBody>
          <a:bodyPr wrap="square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7295"/>
              </a:lnSpc>
              <a:buNone/>
            </a:pPr>
            <a:r>
              <a:rPr lang="en-IN" sz="3200" b="1" u="sng" dirty="0">
                <a:solidFill>
                  <a:schemeClr val="tx1"/>
                </a:solidFill>
                <a:latin typeface="Times New Roman" panose="02020603050405020304" charset="0"/>
                <a:ea typeface="adonis-web" pitchFamily="34" charset="-122"/>
                <a:cs typeface="Times New Roman" panose="02020603050405020304" charset="0"/>
              </a:rPr>
              <a:t>Table Of Contents</a:t>
            </a:r>
            <a:endParaRPr lang="en-IN" sz="3200" b="1" u="sng" dirty="0">
              <a:solidFill>
                <a:schemeClr val="tx1"/>
              </a:solidFill>
              <a:latin typeface="Times New Roman" panose="02020603050405020304" charset="0"/>
              <a:ea typeface="adonis-web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0215" y="0"/>
            <a:ext cx="3672205" cy="1325880"/>
          </a:xfrm>
        </p:spPr>
        <p:txBody>
          <a:bodyPr/>
          <a:p>
            <a:r>
              <a:rPr lang="en-IN" altLang="en-GB" sz="3600" b="1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IN" altLang="en-GB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2855"/>
            <a:ext cx="10515600" cy="4351338"/>
          </a:xfrm>
        </p:spPr>
        <p:txBody>
          <a:bodyPr>
            <a:normAutofit fontScale="70000"/>
          </a:bodyPr>
          <a:p>
            <a:pPr marL="0" indent="0">
              <a:buNone/>
            </a:pPr>
            <a:r>
              <a:rPr lang="en-US" altLang="en-GB" sz="3000">
                <a:latin typeface="Times New Roman" panose="02020603050405020304" charset="0"/>
                <a:cs typeface="Times New Roman" panose="02020603050405020304" charset="0"/>
              </a:rPr>
              <a:t>Road accidents are a significant concern in India's urban cities.</a:t>
            </a:r>
            <a:r>
              <a:rPr lang="en-IN" altLang="en-US" sz="3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3000">
                <a:latin typeface="Times New Roman" panose="02020603050405020304" charset="0"/>
                <a:cs typeface="Times New Roman" panose="02020603050405020304" charset="0"/>
              </a:rPr>
              <a:t>The 2020 dataset contains detailed accident causes, outcomes, and locations for 50 Indian cities.</a:t>
            </a:r>
            <a:r>
              <a:rPr lang="en-IN" altLang="en-US" sz="30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IN" altLang="en-US" sz="3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 sz="3000">
                <a:latin typeface="Times New Roman" panose="02020603050405020304" charset="0"/>
                <a:cs typeface="Times New Roman" panose="02020603050405020304" charset="0"/>
              </a:rPr>
              <a:t>I have </a:t>
            </a:r>
            <a:r>
              <a:rPr lang="en-US" altLang="en-GB" sz="3000">
                <a:latin typeface="Times New Roman" panose="02020603050405020304" charset="0"/>
                <a:cs typeface="Times New Roman" panose="02020603050405020304" charset="0"/>
              </a:rPr>
              <a:t>Use</a:t>
            </a:r>
            <a:r>
              <a:rPr lang="en-IN" altLang="en-US" sz="3000"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lang="en-US" altLang="en-GB" sz="3000">
                <a:latin typeface="Times New Roman" panose="02020603050405020304" charset="0"/>
                <a:cs typeface="Times New Roman" panose="02020603050405020304" charset="0"/>
              </a:rPr>
              <a:t> Data Science to analyze, predict, and simulate policies that could reduce accidents and fatalities.</a:t>
            </a:r>
            <a:endParaRPr lang="en-US" altLang="en-GB" sz="3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3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3000" b="1" u="sng">
                <a:latin typeface="Times New Roman" panose="02020603050405020304" charset="0"/>
                <a:cs typeface="Times New Roman" panose="02020603050405020304" charset="0"/>
              </a:rPr>
              <a:t>Tools Used:</a:t>
            </a:r>
            <a:endParaRPr lang="en-US" altLang="en-GB" sz="30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3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3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Python</a:t>
            </a:r>
            <a:endParaRPr lang="en-US" altLang="en-GB" sz="3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en-GB" sz="3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Pandas</a:t>
            </a:r>
            <a:endParaRPr lang="en-US" altLang="en-GB" sz="3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en-GB" sz="3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Matplotlib</a:t>
            </a:r>
            <a:endParaRPr lang="en-US" altLang="en-GB" sz="3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en-GB" sz="3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Scikit-learn</a:t>
            </a:r>
            <a:endParaRPr lang="en-US" altLang="en-GB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5995" y="0"/>
            <a:ext cx="5494020" cy="1325880"/>
          </a:xfrm>
        </p:spPr>
        <p:txBody>
          <a:bodyPr/>
          <a:p>
            <a:r>
              <a:rPr lang="en-US" altLang="en-GB" sz="3200" b="1">
                <a:latin typeface="Times New Roman" panose="02020603050405020304" charset="0"/>
                <a:cs typeface="Times New Roman" panose="02020603050405020304" charset="0"/>
              </a:rPr>
              <a:t>Project Workflow Overview</a:t>
            </a:r>
            <a:endParaRPr lang="en-US" altLang="en-GB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1868805" y="1185545"/>
            <a:ext cx="8789035" cy="522224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661410" y="1557655"/>
            <a:ext cx="4342130" cy="34607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>
              <a:lnSpc>
                <a:spcPct val="100000"/>
              </a:lnSpc>
            </a:pP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</a:rPr>
              <a:t>Load and clean data</a:t>
            </a:r>
            <a:endParaRPr lang="en-US" altLang="en-GB"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83895" y="253111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GB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3661410" y="2383790"/>
            <a:ext cx="4342130" cy="34607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>
              <a:lnSpc>
                <a:spcPct val="100000"/>
              </a:lnSpc>
            </a:pP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Exploratory Data Analysis (EDA)</a:t>
            </a:r>
            <a:endParaRPr lang="en-US" altLang="en-GB"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661410" y="3244850"/>
            <a:ext cx="4342130" cy="34607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>
              <a:lnSpc>
                <a:spcPct val="100000"/>
              </a:lnSpc>
            </a:pP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Predict fatal accidents (ML model)</a:t>
            </a:r>
            <a:endParaRPr lang="en-US" altLang="en-GB"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661410" y="4105910"/>
            <a:ext cx="4342130" cy="34607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>
              <a:lnSpc>
                <a:spcPct val="100000"/>
              </a:lnSpc>
            </a:pP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Simulate policy impact (Novelty)</a:t>
            </a:r>
            <a:endParaRPr lang="en-US" altLang="en-GB"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3661410" y="4966970"/>
            <a:ext cx="4342130" cy="34607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>
              <a:lnSpc>
                <a:spcPct val="100000"/>
              </a:lnSpc>
            </a:pP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Cluster cities for policy targeting</a:t>
            </a:r>
            <a:endParaRPr lang="en-US" altLang="en-GB"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3661410" y="5828030"/>
            <a:ext cx="4342130" cy="34607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>
              <a:lnSpc>
                <a:spcPct val="100000"/>
              </a:lnSpc>
            </a:pPr>
            <a:r>
              <a:rPr lang="en-US" altLang="en-GB" sz="2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Draw insights and recommendations</a:t>
            </a:r>
            <a:endParaRPr lang="en-US" altLang="en-GB"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0365" y="0"/>
            <a:ext cx="3811270" cy="1325880"/>
          </a:xfrm>
        </p:spPr>
        <p:txBody>
          <a:bodyPr>
            <a:normAutofit/>
          </a:bodyPr>
          <a:p>
            <a:r>
              <a:rPr lang="en-US" altLang="en-GB" sz="3600" b="1">
                <a:latin typeface="Times New Roman" panose="02020603050405020304" charset="0"/>
                <a:cs typeface="Times New Roman" panose="02020603050405020304" charset="0"/>
              </a:rPr>
              <a:t>Dataset Overview</a:t>
            </a:r>
            <a:endParaRPr lang="en-US" altLang="en-GB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70" y="994410"/>
            <a:ext cx="10515600" cy="101409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GB" sz="1800" b="1" u="sng">
                <a:latin typeface="Times New Roman" panose="02020603050405020304" charset="0"/>
                <a:cs typeface="Times New Roman" panose="02020603050405020304" charset="0"/>
              </a:rPr>
              <a:t>Source: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 data.gov.in (2020 Road Accidents in India)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 b="1" u="sng">
                <a:latin typeface="Times New Roman" panose="02020603050405020304" charset="0"/>
                <a:cs typeface="Times New Roman" panose="02020603050405020304" charset="0"/>
              </a:rPr>
              <a:t>Total Records: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 9550 rows, 50 cities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6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6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6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6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6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6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6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6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070" y="1792605"/>
            <a:ext cx="8365490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1575" y="0"/>
            <a:ext cx="9513570" cy="1325880"/>
          </a:xfrm>
        </p:spPr>
        <p:txBody>
          <a:bodyPr>
            <a:normAutofit/>
          </a:bodyPr>
          <a:p>
            <a:r>
              <a:rPr lang="en-US" altLang="en-GB" sz="3200" b="1">
                <a:latin typeface="Times New Roman" panose="02020603050405020304" charset="0"/>
                <a:cs typeface="Times New Roman" panose="02020603050405020304" charset="0"/>
              </a:rPr>
              <a:t>Data Preparation, Exploration &amp; ML Modeling</a:t>
            </a:r>
            <a:endParaRPr lang="en-US" altLang="en-GB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0450" y="1631950"/>
            <a:ext cx="5035550" cy="2766695"/>
          </a:xfrm>
        </p:spPr>
        <p:txBody>
          <a:bodyPr>
            <a:noAutofit/>
          </a:bodyPr>
          <a:p>
            <a:pPr marL="0" indent="0" algn="l">
              <a:buNone/>
            </a:pPr>
            <a:r>
              <a:rPr lang="en-US" altLang="en-GB" sz="1700" b="1" i="1" u="sng">
                <a:latin typeface="Times New Roman" panose="02020603050405020304" charset="0"/>
                <a:cs typeface="Times New Roman" panose="02020603050405020304" charset="0"/>
              </a:rPr>
              <a:t>Data Loading &amp; Cleaning</a:t>
            </a:r>
            <a:endParaRPr lang="en-US" altLang="en-GB" sz="1700" b="1" i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Loaded accident data for 50 Indian cities (2020)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Cleaned missing values in 'Count' column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Standardized text (title case, stripped spaces)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Verified data types</a:t>
            </a:r>
            <a:r>
              <a:rPr lang="en-IN" altLang="en-US" sz="1700">
                <a:latin typeface="Times New Roman" panose="02020603050405020304" charset="0"/>
                <a:cs typeface="Times New Roman" panose="02020603050405020304" charset="0"/>
              </a:rPr>
              <a:t>,</a:t>
            </a: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 ready for ML modeling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Total Records after cleaning: 9,550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3886200"/>
            <a:ext cx="4041140" cy="22136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935" y="1423670"/>
            <a:ext cx="5882640" cy="2338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Content Placeholder 2"/>
          <p:cNvSpPr>
            <a:spLocks noGrp="1"/>
          </p:cNvSpPr>
          <p:nvPr/>
        </p:nvSpPr>
        <p:spPr>
          <a:xfrm>
            <a:off x="424180" y="752475"/>
            <a:ext cx="5035550" cy="489521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altLang="en-GB" sz="7200" b="1" i="1" u="sng">
                <a:latin typeface="Times New Roman" panose="02020603050405020304" charset="0"/>
                <a:cs typeface="Times New Roman" panose="02020603050405020304" charset="0"/>
              </a:rPr>
              <a:t>Exploratory Data Analysis (EDA)</a:t>
            </a:r>
            <a:endParaRPr lang="en-US" altLang="en-GB" sz="7200" b="1" i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endParaRPr lang="en-US" altLang="en-GB" sz="72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ü"/>
            </a:pPr>
            <a:r>
              <a:rPr lang="en-US" altLang="en-GB" sz="7200">
                <a:latin typeface="Times New Roman" panose="02020603050405020304" charset="0"/>
                <a:cs typeface="Times New Roman" panose="02020603050405020304" charset="0"/>
              </a:rPr>
              <a:t>Identified top cities with high fatality rates</a:t>
            </a:r>
            <a:endParaRPr lang="en-US" altLang="en-GB" sz="72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ü"/>
            </a:pPr>
            <a:r>
              <a:rPr lang="en-US" altLang="en-GB" sz="7200">
                <a:latin typeface="Times New Roman" panose="02020603050405020304" charset="0"/>
                <a:cs typeface="Times New Roman" panose="02020603050405020304" charset="0"/>
              </a:rPr>
              <a:t>Highlighted major causes:</a:t>
            </a:r>
            <a:endParaRPr lang="en-US" altLang="en-GB" sz="7200"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/>
            <a:r>
              <a:rPr lang="en-US" altLang="en-GB" sz="6170">
                <a:latin typeface="Times New Roman" panose="02020603050405020304" charset="0"/>
                <a:cs typeface="Times New Roman" panose="02020603050405020304" charset="0"/>
              </a:rPr>
              <a:t>Road Features</a:t>
            </a:r>
            <a:endParaRPr lang="en-US" altLang="en-GB" sz="6170"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/>
            <a:r>
              <a:rPr lang="en-US" altLang="en-GB" sz="6170">
                <a:latin typeface="Times New Roman" panose="02020603050405020304" charset="0"/>
                <a:cs typeface="Times New Roman" panose="02020603050405020304" charset="0"/>
              </a:rPr>
              <a:t>Traffic Control</a:t>
            </a:r>
            <a:endParaRPr lang="en-US" altLang="en-GB" sz="6170"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/>
            <a:r>
              <a:rPr lang="en-US" altLang="en-GB" sz="6170">
                <a:latin typeface="Times New Roman" panose="02020603050405020304" charset="0"/>
                <a:cs typeface="Times New Roman" panose="02020603050405020304" charset="0"/>
              </a:rPr>
              <a:t>Drunken Driving</a:t>
            </a:r>
            <a:endParaRPr lang="en-US" altLang="en-GB" sz="617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ü"/>
            </a:pPr>
            <a:r>
              <a:rPr lang="en-US" altLang="en-GB" sz="7200">
                <a:latin typeface="Times New Roman" panose="02020603050405020304" charset="0"/>
                <a:cs typeface="Times New Roman" panose="02020603050405020304" charset="0"/>
              </a:rPr>
              <a:t>Outcomes explored:</a:t>
            </a:r>
            <a:endParaRPr lang="en-US" altLang="en-GB" sz="7200"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/>
            <a:r>
              <a:rPr lang="en-US" altLang="en-GB" sz="6170">
                <a:latin typeface="Times New Roman" panose="02020603050405020304" charset="0"/>
                <a:cs typeface="Times New Roman" panose="02020603050405020304" charset="0"/>
              </a:rPr>
              <a:t>Persons Killed</a:t>
            </a:r>
            <a:endParaRPr lang="en-US" altLang="en-GB" sz="6170"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/>
            <a:r>
              <a:rPr lang="en-US" altLang="en-GB" sz="6170">
                <a:latin typeface="Times New Roman" panose="02020603050405020304" charset="0"/>
                <a:cs typeface="Times New Roman" panose="02020603050405020304" charset="0"/>
              </a:rPr>
              <a:t>Minor Injuries</a:t>
            </a:r>
            <a:endParaRPr lang="en-US" altLang="en-GB" sz="6170"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/>
            <a:r>
              <a:rPr lang="en-US" altLang="en-GB" sz="6170">
                <a:latin typeface="Times New Roman" panose="02020603050405020304" charset="0"/>
                <a:cs typeface="Times New Roman" panose="02020603050405020304" charset="0"/>
              </a:rPr>
              <a:t>Total Accidents</a:t>
            </a:r>
            <a:endParaRPr lang="en-US" altLang="en-GB" sz="617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ü"/>
            </a:pPr>
            <a:r>
              <a:rPr lang="en-US" altLang="en-GB" sz="7200">
                <a:latin typeface="Times New Roman" panose="02020603050405020304" charset="0"/>
                <a:cs typeface="Times New Roman" panose="02020603050405020304" charset="0"/>
              </a:rPr>
              <a:t>Visual Insights:</a:t>
            </a:r>
            <a:endParaRPr lang="en-US" altLang="en-GB" sz="7200"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/>
            <a:r>
              <a:rPr lang="en-US" altLang="en-GB" sz="6170">
                <a:latin typeface="Times New Roman" panose="02020603050405020304" charset="0"/>
                <a:cs typeface="Times New Roman" panose="02020603050405020304" charset="0"/>
              </a:rPr>
              <a:t>Bar Chart: Cities with most fatalities</a:t>
            </a:r>
            <a:endParaRPr lang="en-US" altLang="en-GB" sz="6170"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/>
            <a:r>
              <a:rPr lang="en-US" altLang="en-GB" sz="6170">
                <a:latin typeface="Times New Roman" panose="02020603050405020304" charset="0"/>
                <a:cs typeface="Times New Roman" panose="02020603050405020304" charset="0"/>
              </a:rPr>
              <a:t>Bar Chart: Common accident causes</a:t>
            </a:r>
            <a:endParaRPr lang="en-US" altLang="en-GB" sz="6170"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/>
            <a:r>
              <a:rPr lang="en-US" altLang="en-GB" sz="6170">
                <a:latin typeface="Times New Roman" panose="02020603050405020304" charset="0"/>
                <a:cs typeface="Times New Roman" panose="02020603050405020304" charset="0"/>
              </a:rPr>
              <a:t>Pie Chart: Outcome distribution</a:t>
            </a:r>
            <a:endParaRPr lang="en-US" altLang="en-GB" sz="617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rcRect l="518" t="1487"/>
          <a:stretch>
            <a:fillRect/>
          </a:stretch>
        </p:blipFill>
        <p:spPr>
          <a:xfrm>
            <a:off x="5093970" y="265430"/>
            <a:ext cx="6594475" cy="309118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520" y="3429000"/>
            <a:ext cx="5498465" cy="3281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50" y="1270000"/>
            <a:ext cx="6120130" cy="3364230"/>
          </a:xfrm>
        </p:spPr>
        <p:txBody>
          <a:bodyPr>
            <a:noAutofit/>
          </a:bodyPr>
          <a:p>
            <a:pPr marL="0" indent="0" algn="l">
              <a:buNone/>
            </a:pPr>
            <a:r>
              <a:rPr lang="en-US" altLang="en-GB" sz="1700" b="1" i="1" u="sng">
                <a:latin typeface="Times New Roman" panose="02020603050405020304" charset="0"/>
                <a:cs typeface="Times New Roman" panose="02020603050405020304" charset="0"/>
              </a:rPr>
              <a:t>Machine Learning Model – Predicting Fatal Accidents</a:t>
            </a:r>
            <a:endParaRPr lang="en-US" altLang="en-GB" sz="1700" b="1" i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en-GB" sz="1700" b="1">
                <a:latin typeface="Times New Roman" panose="02020603050405020304" charset="0"/>
                <a:cs typeface="Times New Roman" panose="02020603050405020304" charset="0"/>
              </a:rPr>
              <a:t>Model:</a:t>
            </a: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 Random Forest Classifier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en-GB" sz="1700" b="1">
                <a:latin typeface="Times New Roman" panose="02020603050405020304" charset="0"/>
                <a:cs typeface="Times New Roman" panose="02020603050405020304" charset="0"/>
              </a:rPr>
              <a:t>Target:</a:t>
            </a: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 Is Fatal </a:t>
            </a:r>
            <a:r>
              <a:rPr lang="en-US" altLang="en-US" sz="170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 1 if 'Persons Killed', else 0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en-GB" sz="1700" b="1">
                <a:latin typeface="Times New Roman" panose="02020603050405020304" charset="0"/>
                <a:cs typeface="Times New Roman" panose="02020603050405020304" charset="0"/>
              </a:rPr>
              <a:t>Features:</a:t>
            </a: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 Cause Category, Subcategory, Count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en-GB" sz="1700" b="1">
                <a:latin typeface="Times New Roman" panose="02020603050405020304" charset="0"/>
                <a:cs typeface="Times New Roman" panose="02020603050405020304" charset="0"/>
              </a:rPr>
              <a:t>Output:</a:t>
            </a: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 Predicts probability of fatality for an incident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en-GB" sz="1700">
                <a:latin typeface="Times New Roman" panose="02020603050405020304" charset="0"/>
                <a:cs typeface="Times New Roman" panose="02020603050405020304" charset="0"/>
              </a:rPr>
              <a:t>Supports early warning and risk prioritization</a:t>
            </a:r>
            <a:endParaRPr lang="en-US" altLang="en-GB" sz="17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4170" y="1623060"/>
            <a:ext cx="4900930" cy="2657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0840" y="0"/>
            <a:ext cx="6370320" cy="1325880"/>
          </a:xfrm>
        </p:spPr>
        <p:txBody>
          <a:bodyPr/>
          <a:p>
            <a:r>
              <a:rPr lang="en-US" altLang="en-GB" sz="3200" b="1">
                <a:latin typeface="Times New Roman" panose="02020603050405020304" charset="0"/>
                <a:cs typeface="Times New Roman" panose="02020603050405020304" charset="0"/>
              </a:rPr>
              <a:t>What is Policy Simulation?</a:t>
            </a:r>
            <a:endParaRPr lang="en-US" altLang="en-GB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560" y="1447800"/>
            <a:ext cx="10515600" cy="4351338"/>
          </a:xfrm>
        </p:spPr>
        <p:txBody>
          <a:bodyPr>
            <a:noAutofit/>
          </a:bodyPr>
          <a:p>
            <a:pPr marL="0" indent="0" algn="l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It is a smart function I created that shows what would happen if we reduced a specific cause of road accidents like </a:t>
            </a:r>
            <a:r>
              <a:rPr lang="en-US" altLang="en-GB" sz="1800" b="1">
                <a:latin typeface="Times New Roman" panose="02020603050405020304" charset="0"/>
                <a:cs typeface="Times New Roman" panose="02020603050405020304" charset="0"/>
              </a:rPr>
              <a:t>fixing potholes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 or </a:t>
            </a:r>
            <a:r>
              <a:rPr lang="en-US" altLang="en-GB" sz="1800" b="1">
                <a:latin typeface="Times New Roman" panose="02020603050405020304" charset="0"/>
                <a:cs typeface="Times New Roman" panose="02020603050405020304" charset="0"/>
              </a:rPr>
              <a:t>preventing drunken driving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 in a specific city.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altLang="en-GB" sz="1800" b="1" i="1" u="sng">
                <a:latin typeface="Times New Roman" panose="02020603050405020304" charset="0"/>
                <a:cs typeface="Times New Roman" panose="02020603050405020304" charset="0"/>
              </a:rPr>
              <a:t>Why is this Important?</a:t>
            </a:r>
            <a:endParaRPr lang="en-US" altLang="en-GB" sz="1800" b="1" i="1" u="sng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Ø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Helps </a:t>
            </a:r>
            <a:r>
              <a:rPr lang="en-US" altLang="en-GB" sz="1800" b="1">
                <a:latin typeface="Times New Roman" panose="02020603050405020304" charset="0"/>
                <a:cs typeface="Times New Roman" panose="02020603050405020304" charset="0"/>
              </a:rPr>
              <a:t>predict the impact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 of government actions before they are implemented.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Ø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Useful for policymakers, traffic authorities, and city planners.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Ø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Turns data into </a:t>
            </a:r>
            <a:r>
              <a:rPr lang="en-US" altLang="en-GB" sz="1800" b="1">
                <a:latin typeface="Times New Roman" panose="02020603050405020304" charset="0"/>
                <a:cs typeface="Times New Roman" panose="02020603050405020304" charset="0"/>
              </a:rPr>
              <a:t>actionable decisions.</a:t>
            </a:r>
            <a:endParaRPr lang="en-US" altLang="en-GB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Ø"/>
            </a:pPr>
            <a:endParaRPr lang="en-US" altLang="en-GB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Font typeface="Wingdings" panose="05000000000000000000" charset="0"/>
              <a:buNone/>
            </a:pPr>
            <a:r>
              <a:rPr lang="en-US" altLang="en-GB" sz="1800" b="1" i="1" u="sng">
                <a:latin typeface="Times New Roman" panose="02020603050405020304" charset="0"/>
                <a:cs typeface="Times New Roman" panose="02020603050405020304" charset="0"/>
              </a:rPr>
              <a:t>How Does It Work?</a:t>
            </a:r>
            <a:endParaRPr lang="en-US" altLang="en-GB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Ø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I </a:t>
            </a:r>
            <a:r>
              <a:rPr lang="en-US" altLang="en-GB" sz="1800" b="1">
                <a:latin typeface="Times New Roman" panose="02020603050405020304" charset="0"/>
                <a:cs typeface="Times New Roman" panose="02020603050405020304" charset="0"/>
              </a:rPr>
              <a:t>select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 a city and a cause (e.g., ‘Drunken Driving’ in Delhi).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Ø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I </a:t>
            </a:r>
            <a:r>
              <a:rPr lang="en-US" altLang="en-GB" sz="1800" b="1">
                <a:latin typeface="Times New Roman" panose="02020603050405020304" charset="0"/>
                <a:cs typeface="Times New Roman" panose="02020603050405020304" charset="0"/>
              </a:rPr>
              <a:t>simulate a reduction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 in that cause (e.g., 60% reduction).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Ø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The program calculates and shows the new number of accidents, injuries, and deaths.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Ø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It shows a </a:t>
            </a:r>
            <a:r>
              <a:rPr lang="en-US" altLang="en-GB" sz="1800" b="1">
                <a:latin typeface="Times New Roman" panose="02020603050405020304" charset="0"/>
                <a:cs typeface="Times New Roman" panose="02020603050405020304" charset="0"/>
              </a:rPr>
              <a:t>before vs after comparison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 using a bar chart.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4095" y="-255270"/>
            <a:ext cx="2543175" cy="1325880"/>
          </a:xfrm>
        </p:spPr>
        <p:txBody>
          <a:bodyPr/>
          <a:p>
            <a:r>
              <a:rPr lang="en-IN" altLang="en-US" sz="2800" b="1">
                <a:latin typeface="Times New Roman" panose="02020603050405020304" charset="0"/>
                <a:cs typeface="Times New Roman" panose="02020603050405020304" charset="0"/>
              </a:rPr>
              <a:t>Example 1</a:t>
            </a:r>
            <a:endParaRPr lang="en-I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78460" y="848360"/>
            <a:ext cx="79584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If Drunken Driving is reduced by 60% in Delhi:</a:t>
            </a:r>
            <a:r>
              <a:rPr lang="en-IN" altLang="en-US" b="1">
                <a:latin typeface="Times New Roman" panose="02020603050405020304" charset="0"/>
                <a:cs typeface="Times New Roman" panose="02020603050405020304" charset="0"/>
              </a:rPr>
              <a:t>”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Number of fatalities drops clearly.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Total injuries also reduce.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Visual chart shows the difference</a:t>
            </a: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,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makes the impact easy to understand.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460" y="2325370"/>
            <a:ext cx="9809480" cy="4448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4095" y="-255270"/>
            <a:ext cx="2543175" cy="1325880"/>
          </a:xfrm>
        </p:spPr>
        <p:txBody>
          <a:bodyPr/>
          <a:p>
            <a:r>
              <a:rPr lang="en-IN" altLang="en-US" sz="2800" b="1">
                <a:latin typeface="Times New Roman" panose="02020603050405020304" charset="0"/>
                <a:cs typeface="Times New Roman" panose="02020603050405020304" charset="0"/>
              </a:rPr>
              <a:t>Example 2</a:t>
            </a:r>
            <a:endParaRPr lang="en-I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78460" y="848360"/>
            <a:ext cx="79584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“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Over-speeding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↓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50% in Mumbai</a:t>
            </a:r>
            <a:r>
              <a:rPr lang="en-IN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”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Significant drop in fatalities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Minor &amp; grievous injuries also decrease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Visual clearly shows improved safety by controlling speed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460" y="2324735"/>
            <a:ext cx="9752330" cy="4434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4095" y="-255270"/>
            <a:ext cx="2543175" cy="1325880"/>
          </a:xfrm>
        </p:spPr>
        <p:txBody>
          <a:bodyPr/>
          <a:p>
            <a:r>
              <a:rPr lang="en-IN" altLang="en-US" sz="2800" b="1">
                <a:latin typeface="Times New Roman" panose="02020603050405020304" charset="0"/>
                <a:cs typeface="Times New Roman" panose="02020603050405020304" charset="0"/>
              </a:rPr>
              <a:t>Example 3</a:t>
            </a:r>
            <a:endParaRPr lang="en-I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78460" y="848360"/>
            <a:ext cx="79584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“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Jumping Red Light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↓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50% in Chennai</a:t>
            </a:r>
            <a:r>
              <a:rPr lang="en-IN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”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Clear reduction in accidents &amp; injuries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Minor injuries and total accidents drop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Visual proves how traffic signal enforcement improves road safety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460" y="2324100"/>
            <a:ext cx="9752330" cy="4435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24025" y="742950"/>
            <a:ext cx="2921635" cy="1325880"/>
          </a:xfrm>
        </p:spPr>
        <p:txBody>
          <a:bodyPr/>
          <a:p>
            <a:r>
              <a:rPr lang="en-IN" altLang="en-US" sz="3600" b="1">
                <a:latin typeface="Times New Roman" panose="02020603050405020304" charset="0"/>
                <a:cs typeface="Times New Roman" panose="02020603050405020304" charset="0"/>
              </a:rPr>
              <a:t>My </a:t>
            </a:r>
            <a:r>
              <a:rPr lang="en-US" altLang="en-GB" sz="3600" b="1">
                <a:latin typeface="Times New Roman" panose="02020603050405020304" charset="0"/>
                <a:cs typeface="Times New Roman" panose="02020603050405020304" charset="0"/>
              </a:rPr>
              <a:t>Novelty</a:t>
            </a:r>
            <a:endParaRPr lang="en-US" altLang="en-GB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24840" y="2068830"/>
            <a:ext cx="502348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ü"/>
            </a:pPr>
            <a:r>
              <a:rPr lang="en-US" altLang="en-GB" b="1" i="1">
                <a:latin typeface="Times New Roman" panose="02020603050405020304" charset="0"/>
                <a:cs typeface="Times New Roman" panose="02020603050405020304" charset="0"/>
              </a:rPr>
              <a:t>Policy Simulation Function:</a:t>
            </a:r>
            <a:endParaRPr lang="en-US" altLang="en-GB" b="1" i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>
              <a:buFont typeface="Wingdings" panose="05000000000000000000" charset="0"/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Simulates the impact of reducing specific accident causes with before-and-after visual comparisons.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GB" b="1" i="1">
                <a:latin typeface="Times New Roman" panose="02020603050405020304" charset="0"/>
                <a:cs typeface="Times New Roman" panose="02020603050405020304" charset="0"/>
              </a:rPr>
              <a:t>Fatality Prediction using Machine Learning:</a:t>
            </a:r>
            <a:endParaRPr lang="en-US" altLang="en-GB" b="1" i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>
              <a:buFont typeface="Wingdings" panose="05000000000000000000" charset="0"/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Random Forest model predicts the likelihood of fatal outcomes.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GB" b="1" i="1">
                <a:latin typeface="Times New Roman" panose="02020603050405020304" charset="0"/>
                <a:cs typeface="Times New Roman" panose="02020603050405020304" charset="0"/>
              </a:rPr>
              <a:t>City Clustering:</a:t>
            </a:r>
            <a:endParaRPr lang="en-US" altLang="en-GB" b="1" i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>
              <a:buFont typeface="Wingdings" panose="05000000000000000000" charset="0"/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Groups cities based on accident patterns to enable targeted policy planning.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itle 3"/>
          <p:cNvSpPr>
            <a:spLocks noGrp="1"/>
          </p:cNvSpPr>
          <p:nvPr/>
        </p:nvSpPr>
        <p:spPr>
          <a:xfrm>
            <a:off x="7888605" y="742950"/>
            <a:ext cx="290766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sz="3600" b="1">
                <a:latin typeface="Times New Roman" panose="02020603050405020304" charset="0"/>
                <a:cs typeface="Times New Roman" panose="02020603050405020304" charset="0"/>
              </a:rPr>
              <a:t>Future Scope</a:t>
            </a:r>
            <a:endParaRPr lang="en-IN" alt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879590" y="2305050"/>
            <a:ext cx="492569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ü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Integrate real-time accident and traffic data.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Develop an interactive simulation dashboard using Streamlit.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Implement geo-spatial visualization for city-level insights.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Apply NLP to correlate accident data with news trends.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056323" y="1175703"/>
            <a:ext cx="459105" cy="459105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7263130" y="1176020"/>
            <a:ext cx="458470" cy="4584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726940" y="0"/>
            <a:ext cx="2738755" cy="1325880"/>
          </a:xfrm>
        </p:spPr>
        <p:txBody>
          <a:bodyPr/>
          <a:p>
            <a:r>
              <a:rPr lang="en-IN" altLang="en-US" sz="3600" b="1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IN" alt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295400" y="1325880"/>
            <a:ext cx="9601835" cy="4661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My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project provides a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comprehensive analysis of road accidents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across major Indian cities using real-world data. By combining Exploratory Data Analysis,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Machine Learning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, and a novel Policy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Simulation function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, it delivers actionable insights to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improve road safety.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The simulation model helps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visualize the potential impact of targeted interventions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, while predictive modeling and city clustering support data-driven decision-making.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Overall, </a:t>
            </a: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my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project demonstrates how data science can be effectively applied to 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public safety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and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urban planning.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901055" y="819785"/>
            <a:ext cx="5524500" cy="1586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IN" sz="6600">
                <a:solidFill>
                  <a:schemeClr val="bg1">
                    <a:lumMod val="50000"/>
                  </a:schemeClr>
                </a:solidFill>
                <a:latin typeface="Broadway" panose="04040905080B02020502" charset="0"/>
                <a:cs typeface="Broadway" panose="04040905080B02020502" charset="0"/>
                <a:sym typeface="+mn-ea"/>
              </a:rPr>
              <a:t>Thank You</a:t>
            </a:r>
            <a:endParaRPr lang="en-IN" sz="6600">
              <a:solidFill>
                <a:schemeClr val="bg1">
                  <a:lumMod val="50000"/>
                </a:schemeClr>
              </a:solidFill>
              <a:latin typeface="Broadway" panose="04040905080B02020502" charset="0"/>
              <a:cs typeface="Broadway" panose="04040905080B02020502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4170</Words>
  <Application>WPS Slides</Application>
  <PresentationFormat>Widescreen</PresentationFormat>
  <Paragraphs>172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SimSun</vt:lpstr>
      <vt:lpstr>Wingdings</vt:lpstr>
      <vt:lpstr>Broadway</vt:lpstr>
      <vt:lpstr>Times New Roman</vt:lpstr>
      <vt:lpstr>Calibri Light</vt:lpstr>
      <vt:lpstr>adonis-web</vt:lpstr>
      <vt:lpstr>Wingdings</vt:lpstr>
      <vt:lpstr>Microsoft YaHei</vt:lpstr>
      <vt:lpstr>Arial Unicode MS</vt:lpstr>
      <vt:lpstr>Calibri</vt:lpstr>
      <vt:lpstr>Sitka Small Semibold</vt:lpstr>
      <vt:lpstr>Franklin Gothic Medium</vt:lpstr>
      <vt:lpstr>Calibri Light</vt:lpstr>
      <vt:lpstr>Office Theme</vt:lpstr>
      <vt:lpstr>PowerPoint 演示文稿</vt:lpstr>
      <vt:lpstr>PowerPoint 演示文稿</vt:lpstr>
      <vt:lpstr>Project Overview</vt:lpstr>
      <vt:lpstr>Project Overview</vt:lpstr>
      <vt:lpstr>Dataset &amp; Data Generation</vt:lpstr>
      <vt:lpstr>Project Architecture</vt:lpstr>
      <vt:lpstr>Data Preparation, Exploration &amp; ML Modeling</vt:lpstr>
      <vt:lpstr>PowerPoint 演示文稿</vt:lpstr>
      <vt:lpstr>Dashboard Features</vt:lpstr>
      <vt:lpstr>What is Policy Simulation?</vt:lpstr>
      <vt:lpstr>Example 1</vt:lpstr>
      <vt:lpstr>Example 2</vt:lpstr>
      <vt:lpstr>Novelty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Sahana. S</cp:lastModifiedBy>
  <cp:revision>9</cp:revision>
  <dcterms:created xsi:type="dcterms:W3CDTF">2025-04-09T08:10:00Z</dcterms:created>
  <dcterms:modified xsi:type="dcterms:W3CDTF">2025-04-12T13:35:54Z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668E8555E35241488EE550C01D4BDE19_13</vt:lpwstr>
  </property>
  <property fmtid="{D5CDD505-2E9C-101B-9397-08002B2CF9AE}" pid="3" name="KSOProductBuildVer">
    <vt:lpwstr>2057-12.2.0.20755</vt:lpwstr>
  </property>
</Properties>
</file>