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8" r:id="rId5"/>
    <p:sldId id="268" r:id="rId6"/>
    <p:sldId id="260" r:id="rId7"/>
    <p:sldId id="261" r:id="rId8"/>
    <p:sldId id="273" r:id="rId9"/>
    <p:sldId id="274" r:id="rId10"/>
    <p:sldId id="275" r:id="rId11"/>
    <p:sldId id="276" r:id="rId12"/>
    <p:sldId id="277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46860" y="5694680"/>
            <a:ext cx="9655810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altLang="en-GB" sz="2800">
                <a:solidFill>
                  <a:schemeClr val="accent4">
                    <a:lumMod val="60000"/>
                    <a:lumOff val="40000"/>
                  </a:schemeClr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DRUGS SIDE EFFECTS AND MEDICAL CONDITIONS</a:t>
            </a:r>
            <a:endParaRPr lang="en-US" altLang="en-GB" sz="2800">
              <a:solidFill>
                <a:schemeClr val="accent4">
                  <a:lumMod val="60000"/>
                  <a:lumOff val="40000"/>
                </a:schemeClr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121920" y="6334760"/>
            <a:ext cx="2785745" cy="3524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GB" sz="1700" b="1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Platform:</a:t>
            </a:r>
            <a:r>
              <a:rPr lang="en-US" altLang="en-GB" sz="17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Google Colab</a:t>
            </a:r>
            <a:endParaRPr lang="en-US" altLang="en-GB" sz="1700">
              <a:solidFill>
                <a:schemeClr val="bg1">
                  <a:lumMod val="8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9022715" y="6334760"/>
            <a:ext cx="3002280" cy="3524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/>
            <a:r>
              <a:rPr lang="en-US" altLang="en-GB" sz="1700" b="1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r>
              <a:rPr lang="en-US" altLang="en-GB" sz="17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Sahana</a:t>
            </a:r>
            <a:r>
              <a:rPr lang="en-IN" altLang="en-US" sz="17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Sunddher</a:t>
            </a:r>
            <a:endParaRPr lang="en-IN" altLang="en-US" sz="1700">
              <a:solidFill>
                <a:schemeClr val="bg1">
                  <a:lumMod val="8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962140" y="1826895"/>
            <a:ext cx="4664075" cy="320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IN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Workflow Overview</a:t>
            </a:r>
            <a:endParaRPr lang="en-IN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 </a:t>
            </a: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Overview</a:t>
            </a:r>
            <a:endParaRPr lang="en-US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Workflow Overview</a:t>
            </a:r>
            <a:endParaRPr lang="en-US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Drug Recommendation System</a:t>
            </a:r>
            <a:endParaRPr lang="en-US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Drug Recommendation for Health Issues</a:t>
            </a:r>
            <a:endParaRPr lang="en-US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My </a:t>
            </a: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Novelty</a:t>
            </a:r>
            <a:endParaRPr lang="en-US" altLang="en-GB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Scope</a:t>
            </a:r>
            <a:endParaRPr lang="en-IN" altLang="en-US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IN" alt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962140" y="598170"/>
            <a:ext cx="3804920" cy="828040"/>
          </a:xfrm>
          <a:prstGeom prst="rect">
            <a:avLst/>
          </a:prstGeom>
          <a:noFill/>
        </p:spPr>
        <p:txBody>
          <a:bodyPr wrap="square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295"/>
              </a:lnSpc>
              <a:buNone/>
            </a:pPr>
            <a:r>
              <a:rPr lang="en-IN" sz="3200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adonis-web" pitchFamily="34" charset="-122"/>
                <a:cs typeface="Times New Roman" panose="02020603050405020304" charset="0"/>
              </a:rPr>
              <a:t>Table Of Contents</a:t>
            </a:r>
            <a:endParaRPr lang="en-IN" sz="3200" b="1" u="sng" dirty="0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ea typeface="adonis-web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0215" y="0"/>
            <a:ext cx="3672205" cy="1325880"/>
          </a:xfrm>
        </p:spPr>
        <p:txBody>
          <a:bodyPr/>
          <a:p>
            <a:r>
              <a:rPr lang="en-IN" altLang="en-GB" sz="36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IN" altLang="en-GB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4020"/>
            <a:ext cx="10515600" cy="39757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GB" sz="2000" b="1" u="sng">
                <a:latin typeface="Times New Roman" panose="02020603050405020304" charset="0"/>
                <a:cs typeface="Times New Roman" panose="02020603050405020304" charset="0"/>
              </a:rPr>
              <a:t>Objective:</a:t>
            </a:r>
            <a:endParaRPr lang="en-US" altLang="en-GB" sz="20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analyze the side effects of various drugs and identify common medical conditions associated with them.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Why This Topic?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Healthcare relevance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Helps in better prescription decisions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Data-driven insight into side effects frequency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5995" y="0"/>
            <a:ext cx="5494020" cy="1325880"/>
          </a:xfrm>
        </p:spPr>
        <p:txBody>
          <a:bodyPr/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Project Workflow Overview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868805" y="1185545"/>
            <a:ext cx="8789035" cy="52222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661410" y="1557655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Data Cleaning &amp; Preprocessing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3895" y="253111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3661410" y="238379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Categorical Data Handling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661410" y="324485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Feature Engineering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61410" y="4105910"/>
            <a:ext cx="546862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Data Visualization</a:t>
            </a:r>
            <a:r>
              <a:rPr lang="en-IN" altLang="en-US" sz="2200">
                <a:latin typeface="Times New Roman" panose="02020603050405020304" charset="0"/>
                <a:cs typeface="Times New Roman" panose="02020603050405020304" charset="0"/>
              </a:rPr>
              <a:t> &amp; </a:t>
            </a: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Analyzing Relationships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661410" y="496697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Drug Recommendation System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661410" y="5828030"/>
            <a:ext cx="596900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Drug Recommendation for Health Issues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365" y="0"/>
            <a:ext cx="3811270" cy="1325880"/>
          </a:xfrm>
        </p:spPr>
        <p:txBody>
          <a:bodyPr>
            <a:normAutofit/>
          </a:bodyPr>
          <a:p>
            <a:r>
              <a:rPr lang="en-US" altLang="en-GB" sz="3600" b="1">
                <a:latin typeface="Times New Roman" panose="02020603050405020304" charset="0"/>
                <a:cs typeface="Times New Roman" panose="02020603050405020304" charset="0"/>
              </a:rPr>
              <a:t>Dataset Overview</a:t>
            </a:r>
            <a:endParaRPr lang="en-US" altLang="en-GB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70" y="994410"/>
            <a:ext cx="11517630" cy="10140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ontains drug names, associated side effects, medical conditions, and drug classes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Data includes multiple entries per drug, with side effects and classes stored as text lists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Requires cleaning, splitting, and feature extraction for analysis and modeling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" y="2626360"/>
            <a:ext cx="11636375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0880" y="0"/>
            <a:ext cx="5730240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Cleaning &amp; Preprocessing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975" y="1231900"/>
            <a:ext cx="5771515" cy="3586480"/>
          </a:xfrm>
        </p:spPr>
        <p:txBody>
          <a:bodyPr>
            <a:noAutofit/>
          </a:bodyPr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Checked and handled missing values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Verified and transformed categorical values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Applied data cleaning using: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1455">
                <a:latin typeface="Times New Roman" panose="02020603050405020304" charset="0"/>
                <a:cs typeface="Times New Roman" panose="02020603050405020304" charset="0"/>
              </a:rPr>
              <a:t>Splitting text by semicolons (;)</a:t>
            </a:r>
            <a:endParaRPr lang="en-US" altLang="en-GB" sz="1455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1455">
                <a:latin typeface="Times New Roman" panose="02020603050405020304" charset="0"/>
                <a:cs typeface="Times New Roman" panose="02020603050405020304" charset="0"/>
              </a:rPr>
              <a:t>Stripping whitespaces</a:t>
            </a:r>
            <a:endParaRPr lang="en-US" altLang="en-GB" sz="1455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Converted structured lists into DataFrame format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Saved the cleaned data as a new CSV file for analysis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en-GB" sz="1700" b="1" u="sng">
                <a:latin typeface="Times New Roman" panose="02020603050405020304" charset="0"/>
                <a:cs typeface="Times New Roman" panose="02020603050405020304" charset="0"/>
              </a:rPr>
              <a:t>Outcome:</a:t>
            </a:r>
            <a:endParaRPr lang="en-US" altLang="en-GB" sz="17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A clean, structured dataset ready for analysis and modeling.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4817745"/>
            <a:ext cx="11499215" cy="1854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0880" y="0"/>
            <a:ext cx="5730240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Categorical Data Handling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" y="1631950"/>
            <a:ext cx="4729480" cy="3586480"/>
          </a:xfrm>
        </p:spPr>
        <p:txBody>
          <a:bodyPr>
            <a:noAutofit/>
          </a:bodyPr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Converted categorical data into numerical format using encoding techniques</a:t>
            </a:r>
            <a:r>
              <a:rPr lang="en-IN" altLang="en-US" sz="17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IN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(Label encoding / one-hot encoding)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Extracted drug classes from raw text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Split using commas 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Normalized and stored as separate columns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 u="sng">
                <a:latin typeface="Times New Roman" panose="02020603050405020304" charset="0"/>
                <a:cs typeface="Times New Roman" panose="02020603050405020304" charset="0"/>
              </a:rPr>
              <a:t>Purpose:</a:t>
            </a:r>
            <a:endParaRPr lang="en-US" altLang="en-GB" sz="17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buFont typeface="Wingdings" panose="05000000000000000000" charset="0"/>
              <a:buNone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To make the dataset machine-learning ready and structurally analyzable.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2447"/>
          <a:stretch>
            <a:fillRect/>
          </a:stretch>
        </p:blipFill>
        <p:spPr>
          <a:xfrm>
            <a:off x="6216650" y="1098550"/>
            <a:ext cx="5600700" cy="21774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0" y="3429000"/>
            <a:ext cx="5601335" cy="3276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4335" y="0"/>
            <a:ext cx="3782695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Engineering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4280" y="1802130"/>
            <a:ext cx="7204075" cy="3586480"/>
          </a:xfrm>
        </p:spPr>
        <p:txBody>
          <a:bodyPr>
            <a:noAutofit/>
          </a:bodyPr>
          <a:p>
            <a:pPr algn="ctr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Checked for specific values within text fields: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ctr"/>
            <a:r>
              <a:rPr lang="en-US" altLang="en-GB" sz="1455">
                <a:latin typeface="Times New Roman" panose="02020603050405020304" charset="0"/>
                <a:cs typeface="Times New Roman" panose="02020603050405020304" charset="0"/>
              </a:rPr>
              <a:t>Side Effects</a:t>
            </a:r>
            <a:endParaRPr lang="en-US" altLang="en-GB" sz="1455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ctr"/>
            <a:r>
              <a:rPr lang="en-US" altLang="en-GB" sz="1455">
                <a:latin typeface="Times New Roman" panose="02020603050405020304" charset="0"/>
                <a:cs typeface="Times New Roman" panose="02020603050405020304" charset="0"/>
              </a:rPr>
              <a:t>Medical Conditions</a:t>
            </a:r>
            <a:endParaRPr lang="en-US" altLang="en-GB" sz="1455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ctr"/>
            <a:r>
              <a:rPr lang="en-US" altLang="en-GB" sz="1455">
                <a:latin typeface="Times New Roman" panose="02020603050405020304" charset="0"/>
                <a:cs typeface="Times New Roman" panose="02020603050405020304" charset="0"/>
              </a:rPr>
              <a:t>Drug Classes</a:t>
            </a:r>
            <a:endParaRPr lang="en-US" altLang="en-GB" sz="1455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Font typeface="Wingdings" panose="05000000000000000000" charset="0"/>
              <a:buChar char="ü"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Created Boolean columns like: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ctr"/>
            <a:r>
              <a:rPr lang="en-US" altLang="en-GB" sz="1455">
                <a:latin typeface="Times New Roman" panose="02020603050405020304" charset="0"/>
                <a:cs typeface="Times New Roman" panose="02020603050405020304" charset="0"/>
              </a:rPr>
              <a:t>has_dizziness, has_hives, is_painkiller, etc.</a:t>
            </a:r>
            <a:endParaRPr lang="en-US" altLang="en-GB" sz="1455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Font typeface="Wingdings" panose="05000000000000000000" charset="0"/>
              <a:buChar char="ü"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Enabled filtering, grouping, and analysis based on critical indicators.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5475" y="0"/>
            <a:ext cx="8401685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Visualization</a:t>
            </a:r>
            <a:r>
              <a:rPr lang="en-I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&amp; </a:t>
            </a:r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Analyzing Relationships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b="59797"/>
          <a:stretch>
            <a:fillRect/>
          </a:stretch>
        </p:blipFill>
        <p:spPr>
          <a:xfrm>
            <a:off x="531495" y="1288415"/>
            <a:ext cx="3046095" cy="23202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59738"/>
          <a:stretch>
            <a:fillRect/>
          </a:stretch>
        </p:blipFill>
        <p:spPr>
          <a:xfrm>
            <a:off x="4552315" y="1325880"/>
            <a:ext cx="2934970" cy="22821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b="59868"/>
          <a:stretch>
            <a:fillRect/>
          </a:stretch>
        </p:blipFill>
        <p:spPr>
          <a:xfrm>
            <a:off x="8462010" y="1325880"/>
            <a:ext cx="2847975" cy="22815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t="59303"/>
          <a:stretch>
            <a:fillRect/>
          </a:stretch>
        </p:blipFill>
        <p:spPr>
          <a:xfrm>
            <a:off x="531495" y="4075430"/>
            <a:ext cx="3046095" cy="23602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680" y="4075430"/>
            <a:ext cx="2935605" cy="23602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390" y="3825875"/>
            <a:ext cx="4133850" cy="2609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9775" y="0"/>
            <a:ext cx="5633720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Drug Recommendation System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645" y="2138680"/>
            <a:ext cx="5464810" cy="3586480"/>
          </a:xfrm>
        </p:spPr>
        <p:txBody>
          <a:bodyPr>
            <a:noAutofit/>
          </a:bodyPr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 u="sng">
                <a:latin typeface="Times New Roman" panose="02020603050405020304" charset="0"/>
                <a:cs typeface="Times New Roman" panose="02020603050405020304" charset="0"/>
              </a:rPr>
              <a:t>Name-Based Recommendation</a:t>
            </a:r>
            <a:endParaRPr lang="en-US" altLang="en-GB" sz="17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buFont typeface="Wingdings" panose="05000000000000000000" charset="0"/>
              <a:buNone/>
            </a:pPr>
            <a:r>
              <a:rPr lang="en-IN" altLang="en-US" sz="1700">
                <a:latin typeface="Times New Roman" panose="02020603050405020304" charset="0"/>
                <a:cs typeface="Times New Roman" panose="02020603050405020304" charset="0"/>
              </a:rPr>
              <a:t>This system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recommend drugs based on exact or partial matches to the input drug name. It returns the top N similar drugs based on their similarity scores.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buFont typeface="Wingdings" panose="05000000000000000000" charset="0"/>
              <a:buNone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Input: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Drug name (exact/partial)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Output: 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Top N similar drugs based on text similarity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Technique: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String matching / similarity scoring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 u="sng">
                <a:latin typeface="Times New Roman" panose="02020603050405020304" charset="0"/>
                <a:cs typeface="Times New Roman" panose="02020603050405020304" charset="0"/>
              </a:rPr>
              <a:t>Purpose:</a:t>
            </a:r>
            <a:endParaRPr lang="en-US" altLang="en-GB" sz="17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buFont typeface="Wingdings" panose="05000000000000000000" charset="0"/>
              <a:buNone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To help find alternative medications with similar purposes.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410" y="2501265"/>
            <a:ext cx="5193030" cy="26384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54425" y="1325880"/>
            <a:ext cx="4885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System 1: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Focuses on treatment effectiveness</a:t>
            </a:r>
            <a:endParaRPr lang="en-US" altLang="en-GB" sz="200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915" y="0"/>
            <a:ext cx="7456170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Drug Recommendation for Health Issues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645" y="2138680"/>
            <a:ext cx="5464810" cy="3586480"/>
          </a:xfrm>
        </p:spPr>
        <p:txBody>
          <a:bodyPr>
            <a:noAutofit/>
          </a:bodyPr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 u="sng">
                <a:latin typeface="Times New Roman" panose="02020603050405020304" charset="0"/>
                <a:cs typeface="Times New Roman" panose="02020603050405020304" charset="0"/>
              </a:rPr>
              <a:t>Side-Effect Minimization</a:t>
            </a:r>
            <a:r>
              <a:rPr lang="en-IN" altLang="en-US" sz="1700" b="1" u="sng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altLang="en-US" sz="17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buFont typeface="Wingdings" panose="05000000000000000000" charset="0"/>
              <a:buNone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This system focuses more on minimizing side effects while ensuring the drug is effective.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buFont typeface="Wingdings" panose="05000000000000000000" charset="0"/>
              <a:buNone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Input: 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Specific health issue / condition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Output: 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Drug recommendations that are effective but with fewer side effects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Approach: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Focus on safety and minimal adverse reactions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54425" y="1325880"/>
            <a:ext cx="4885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System </a:t>
            </a:r>
            <a:r>
              <a:rPr lang="en-I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GB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Prioritizes minimizing side effects</a:t>
            </a:r>
            <a:endParaRPr lang="en-US" altLang="en-GB" sz="200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550" y="4500880"/>
            <a:ext cx="4598035" cy="1417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0" y="2138680"/>
            <a:ext cx="4598670" cy="2195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24025" y="742950"/>
            <a:ext cx="2921635" cy="1325880"/>
          </a:xfrm>
        </p:spPr>
        <p:txBody>
          <a:bodyPr/>
          <a:p>
            <a:r>
              <a:rPr lang="en-IN" altLang="en-US" sz="3600" b="1">
                <a:latin typeface="Times New Roman" panose="02020603050405020304" charset="0"/>
                <a:cs typeface="Times New Roman" panose="02020603050405020304" charset="0"/>
              </a:rPr>
              <a:t>My </a:t>
            </a:r>
            <a:r>
              <a:rPr lang="en-US" altLang="en-GB" sz="3600" b="1">
                <a:latin typeface="Times New Roman" panose="02020603050405020304" charset="0"/>
                <a:cs typeface="Times New Roman" panose="02020603050405020304" charset="0"/>
              </a:rPr>
              <a:t>Novelty</a:t>
            </a:r>
            <a:endParaRPr lang="en-US" altLang="en-GB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24840" y="2068830"/>
            <a:ext cx="5023485" cy="429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90000"/>
              </a:lnSpc>
              <a:buFont typeface="Wingdings" panose="05000000000000000000" charset="0"/>
              <a:buChar char="ü"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Developed two customized drug recommendation systems: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90000"/>
              </a:lnSpc>
              <a:buFont typeface="Wingdings" panose="05000000000000000000" charset="0"/>
              <a:buNone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arenR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One for finding similar drugs by name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arenR"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arenR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One for minimizing side effects while treating a condition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ü"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ü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Introduced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Boolean feature engineering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 to analyze specific symptoms, drug classes, and conditions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ü"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ü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Combined data cleaning, NLP, and recommendation logic in a healthcare dataset  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a unique blend rarely explored at student level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IN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7888605" y="742950"/>
            <a:ext cx="290766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3600" b="1"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lang="en-IN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879590" y="2068830"/>
            <a:ext cx="492569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Integrate with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real-time medical APIs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 (e.g., openFDA, DrugBank) for dynamic recommendations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Build a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web-based interface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 or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chatbot 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for easy user interaction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Apply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machine learning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 to predict potential side effects for new drug-condition pairs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Expand the system to include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drug interactions 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contraindications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56323" y="1175703"/>
            <a:ext cx="459105" cy="4591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7263130" y="1176020"/>
            <a:ext cx="458470" cy="458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26940" y="0"/>
            <a:ext cx="2738755" cy="1325880"/>
          </a:xfrm>
        </p:spPr>
        <p:txBody>
          <a:bodyPr/>
          <a:p>
            <a:r>
              <a:rPr lang="en-IN" altLang="en-US" sz="36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IN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95400" y="1089660"/>
            <a:ext cx="96018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Successfully analyzed drug-related data to understand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side effects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medical conditions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Built two practical drug recommendation systems: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One focused on effectiveness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(similar drugs)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One focused on safety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(minimal side effects)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Demonstrated the power of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data-driven decision-making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in healthcare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project bridges the gap between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data science and real-world medical needs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, with potential for further development into a clinical support tool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334385" y="2635250"/>
            <a:ext cx="5524500" cy="158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IN" sz="6600">
                <a:solidFill>
                  <a:schemeClr val="accent6">
                    <a:lumMod val="50000"/>
                  </a:schemeClr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Thank You</a:t>
            </a:r>
            <a:endParaRPr lang="en-IN" sz="6600">
              <a:solidFill>
                <a:schemeClr val="accent6">
                  <a:lumMod val="50000"/>
                </a:schemeClr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3939</Words>
  <Application>WPS Slides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Broadway</vt:lpstr>
      <vt:lpstr>Times New Roman</vt:lpstr>
      <vt:lpstr>adonis-web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Introduction</vt:lpstr>
      <vt:lpstr>Project Workflow Overview</vt:lpstr>
      <vt:lpstr>Dataset Overview</vt:lpstr>
      <vt:lpstr>Data Cleaning &amp; Preprocessing</vt:lpstr>
      <vt:lpstr>Categorical Data Handling</vt:lpstr>
      <vt:lpstr>Feature Engineering</vt:lpstr>
      <vt:lpstr>Data Visualization &amp; Analyzing Relationships</vt:lpstr>
      <vt:lpstr>Feature Engineering</vt:lpstr>
      <vt:lpstr>Drug Recommendation System</vt:lpstr>
      <vt:lpstr>My Novelty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Sahana. S</cp:lastModifiedBy>
  <cp:revision>13</cp:revision>
  <dcterms:created xsi:type="dcterms:W3CDTF">2025-04-09T08:10:00Z</dcterms:created>
  <dcterms:modified xsi:type="dcterms:W3CDTF">2025-04-14T11:51:08Z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F813648A13214D3C8CE461C593ECD98E_11</vt:lpwstr>
  </property>
  <property fmtid="{D5CDD505-2E9C-101B-9397-08002B2CF9AE}" pid="3" name="KSOProductBuildVer">
    <vt:lpwstr>2057-12.2.0.20755</vt:lpwstr>
  </property>
</Properties>
</file>