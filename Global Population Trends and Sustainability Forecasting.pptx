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58" r:id="rId5"/>
    <p:sldId id="268" r:id="rId6"/>
    <p:sldId id="260" r:id="rId7"/>
    <p:sldId id="261" r:id="rId8"/>
    <p:sldId id="273" r:id="rId9"/>
    <p:sldId id="27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rcRect t="22962" b="8527"/>
          <a:stretch>
            <a:fillRect/>
          </a:stretch>
        </p:blipFill>
        <p:spPr>
          <a:xfrm>
            <a:off x="0" y="0"/>
            <a:ext cx="12192000" cy="6858000"/>
          </a:xfrm>
          <a:prstGeom prst="rect">
            <a:avLst/>
          </a:prstGeom>
        </p:spPr>
      </p:pic>
      <p:sp>
        <p:nvSpPr>
          <p:cNvPr id="5" name="TextBox 2"/>
          <p:cNvSpPr txBox="1"/>
          <p:nvPr/>
        </p:nvSpPr>
        <p:spPr>
          <a:xfrm>
            <a:off x="107950" y="6334760"/>
            <a:ext cx="2340610" cy="352425"/>
          </a:xfrm>
          <a:prstGeom prst="rect">
            <a:avLst/>
          </a:prstGeom>
          <a:noFill/>
        </p:spPr>
        <p:txBody>
          <a:bodyPr wrap="none">
            <a:spAutoFit/>
          </a:bodyPr>
          <a:p>
            <a:pPr algn="l"/>
            <a:r>
              <a:rPr lang="en-US" altLang="en-GB" sz="1700" b="1">
                <a:solidFill>
                  <a:schemeClr val="tx1"/>
                </a:solidFill>
                <a:latin typeface="Times New Roman" panose="02020603050405020304" charset="0"/>
                <a:cs typeface="Times New Roman" panose="02020603050405020304" charset="0"/>
              </a:rPr>
              <a:t>Platform:</a:t>
            </a:r>
            <a:r>
              <a:rPr lang="en-US" altLang="en-GB" sz="1700">
                <a:solidFill>
                  <a:schemeClr val="tx1"/>
                </a:solidFill>
                <a:latin typeface="Times New Roman" panose="02020603050405020304" charset="0"/>
                <a:cs typeface="Times New Roman" panose="02020603050405020304" charset="0"/>
              </a:rPr>
              <a:t> Google Colab</a:t>
            </a:r>
            <a:endParaRPr lang="en-US" altLang="en-GB" sz="1700">
              <a:solidFill>
                <a:schemeClr val="tx1"/>
              </a:solidFill>
              <a:latin typeface="Times New Roman" panose="02020603050405020304" charset="0"/>
              <a:cs typeface="Times New Roman" panose="02020603050405020304" charset="0"/>
            </a:endParaRPr>
          </a:p>
        </p:txBody>
      </p:sp>
      <p:sp>
        <p:nvSpPr>
          <p:cNvPr id="6" name="TextBox 2"/>
          <p:cNvSpPr txBox="1"/>
          <p:nvPr/>
        </p:nvSpPr>
        <p:spPr>
          <a:xfrm>
            <a:off x="9022715" y="6334760"/>
            <a:ext cx="3002280" cy="352425"/>
          </a:xfrm>
          <a:prstGeom prst="rect">
            <a:avLst/>
          </a:prstGeom>
          <a:noFill/>
        </p:spPr>
        <p:txBody>
          <a:bodyPr wrap="none">
            <a:spAutoFit/>
          </a:bodyPr>
          <a:p>
            <a:pPr algn="l"/>
            <a:r>
              <a:rPr lang="en-US" altLang="en-GB" sz="1700" b="1">
                <a:solidFill>
                  <a:schemeClr val="tx1"/>
                </a:solidFill>
                <a:latin typeface="Times New Roman" panose="02020603050405020304" charset="0"/>
                <a:cs typeface="Times New Roman" panose="02020603050405020304" charset="0"/>
              </a:rPr>
              <a:t>Presented by:</a:t>
            </a:r>
            <a:r>
              <a:rPr lang="en-US" altLang="en-GB" sz="1700">
                <a:solidFill>
                  <a:schemeClr val="tx1"/>
                </a:solidFill>
                <a:latin typeface="Times New Roman" panose="02020603050405020304" charset="0"/>
                <a:cs typeface="Times New Roman" panose="02020603050405020304" charset="0"/>
              </a:rPr>
              <a:t> Sahana</a:t>
            </a:r>
            <a:r>
              <a:rPr lang="en-IN" altLang="en-US" sz="1700">
                <a:solidFill>
                  <a:schemeClr val="tx1"/>
                </a:solidFill>
                <a:latin typeface="Times New Roman" panose="02020603050405020304" charset="0"/>
                <a:cs typeface="Times New Roman" panose="02020603050405020304" charset="0"/>
              </a:rPr>
              <a:t> Sunddher</a:t>
            </a:r>
            <a:endParaRPr lang="en-US" altLang="en-GB" sz="1700">
              <a:solidFill>
                <a:schemeClr val="tx1"/>
              </a:solidFill>
              <a:latin typeface="Times New Roman" panose="02020603050405020304" charset="0"/>
              <a:cs typeface="Times New Roman" panose="02020603050405020304" charset="0"/>
            </a:endParaRPr>
          </a:p>
        </p:txBody>
      </p:sp>
      <p:sp>
        <p:nvSpPr>
          <p:cNvPr id="9" name="Text Box 8"/>
          <p:cNvSpPr txBox="1"/>
          <p:nvPr/>
        </p:nvSpPr>
        <p:spPr>
          <a:xfrm>
            <a:off x="2061845" y="5100955"/>
            <a:ext cx="8195310" cy="1586230"/>
          </a:xfrm>
          <a:prstGeom prst="rect">
            <a:avLst/>
          </a:prstGeom>
          <a:noFill/>
        </p:spPr>
        <p:txBody>
          <a:bodyPr wrap="square" rtlCol="0">
            <a:noAutofit/>
          </a:bodyPr>
          <a:p>
            <a:pPr algn="ctr">
              <a:defRPr sz="3600" b="1">
                <a:solidFill>
                  <a:srgbClr val="003366"/>
                </a:solidFill>
              </a:defRPr>
            </a:pPr>
            <a:r>
              <a:rPr lang="en-US" altLang="en-GB" sz="2800">
                <a:solidFill>
                  <a:schemeClr val="tx1"/>
                </a:solidFill>
                <a:latin typeface="Broadway" panose="04040905080B02020502" charset="0"/>
                <a:cs typeface="Broadway" panose="04040905080B02020502" charset="0"/>
                <a:sym typeface="+mn-ea"/>
              </a:rPr>
              <a:t>Global Population Trends and Sustainability Forecasting</a:t>
            </a:r>
            <a:endParaRPr lang="en-US" altLang="en-GB" sz="2800">
              <a:solidFill>
                <a:schemeClr val="tx1"/>
              </a:solidFill>
              <a:latin typeface="Broadway" panose="04040905080B02020502" charset="0"/>
              <a:cs typeface="Broadway" panose="04040905080B02020502" charset="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rcRect l="28434"/>
          <a:stretch>
            <a:fillRect/>
          </a:stretch>
        </p:blipFill>
        <p:spPr>
          <a:xfrm>
            <a:off x="0" y="0"/>
            <a:ext cx="12191365" cy="6857365"/>
          </a:xfrm>
          <a:prstGeom prst="rect">
            <a:avLst/>
          </a:prstGeom>
        </p:spPr>
      </p:pic>
      <p:sp>
        <p:nvSpPr>
          <p:cNvPr id="3" name="Text Box 2"/>
          <p:cNvSpPr txBox="1"/>
          <p:nvPr/>
        </p:nvSpPr>
        <p:spPr>
          <a:xfrm>
            <a:off x="528955" y="1722120"/>
            <a:ext cx="5623560" cy="3955415"/>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514350" indent="-514350" algn="l">
              <a:lnSpc>
                <a:spcPct val="150000"/>
              </a:lnSpc>
              <a:spcBef>
                <a:spcPts val="0"/>
              </a:spcBef>
              <a:spcAft>
                <a:spcPts val="0"/>
              </a:spcAft>
              <a:buFont typeface="+mj-lt"/>
              <a:buAutoNum type="arabicPeriod"/>
            </a:pPr>
            <a:r>
              <a:rPr lang="en-IN" altLang="en-GB" b="1">
                <a:solidFill>
                  <a:schemeClr val="tx1">
                    <a:lumMod val="95000"/>
                    <a:lumOff val="5000"/>
                  </a:schemeClr>
                </a:solidFill>
                <a:latin typeface="Times New Roman" panose="02020603050405020304" charset="0"/>
                <a:cs typeface="Times New Roman" panose="02020603050405020304" charset="0"/>
                <a:sym typeface="+mn-ea"/>
              </a:rPr>
              <a:t>Introduction</a:t>
            </a:r>
            <a:endParaRPr lang="en-IN" altLang="en-GB" b="1">
              <a:solidFill>
                <a:schemeClr val="tx1">
                  <a:lumMod val="95000"/>
                  <a:lumOff val="5000"/>
                </a:schemeClr>
              </a:solidFill>
              <a:latin typeface="Times New Roman" panose="02020603050405020304" charset="0"/>
              <a:cs typeface="Times New Roman" panose="02020603050405020304" charset="0"/>
              <a:sym typeface="+mn-ea"/>
            </a:endParaRPr>
          </a:p>
          <a:p>
            <a:pPr marL="514350" indent="-514350" algn="l">
              <a:lnSpc>
                <a:spcPct val="150000"/>
              </a:lnSpc>
              <a:spcBef>
                <a:spcPts val="0"/>
              </a:spcBef>
              <a:spcAft>
                <a:spcPts val="0"/>
              </a:spcAft>
              <a:buFont typeface="+mj-lt"/>
              <a:buAutoNum type="arabicPeriod"/>
            </a:pPr>
            <a:r>
              <a:rPr lang="en-IN" altLang="en-GB" b="1">
                <a:solidFill>
                  <a:schemeClr val="tx1">
                    <a:lumMod val="95000"/>
                    <a:lumOff val="5000"/>
                  </a:schemeClr>
                </a:solidFill>
                <a:latin typeface="Times New Roman" panose="02020603050405020304" charset="0"/>
                <a:cs typeface="Times New Roman" panose="02020603050405020304" charset="0"/>
                <a:sym typeface="+mn-ea"/>
              </a:rPr>
              <a:t>Project Workflow Overview</a:t>
            </a:r>
            <a:endParaRPr lang="en-IN" altLang="en-GB" b="1">
              <a:solidFill>
                <a:schemeClr val="tx1">
                  <a:lumMod val="95000"/>
                  <a:lumOff val="5000"/>
                </a:schemeClr>
              </a:solidFill>
              <a:latin typeface="Times New Roman" panose="02020603050405020304" charset="0"/>
              <a:cs typeface="Times New Roman" panose="02020603050405020304" charset="0"/>
            </a:endParaRPr>
          </a:p>
          <a:p>
            <a:pPr marL="514350" indent="-514350" algn="l">
              <a:lnSpc>
                <a:spcPct val="150000"/>
              </a:lnSpc>
              <a:spcBef>
                <a:spcPts val="0"/>
              </a:spcBef>
              <a:spcAft>
                <a:spcPts val="0"/>
              </a:spcAft>
              <a:buFont typeface="+mj-lt"/>
              <a:buAutoNum type="arabicPeriod"/>
            </a:pPr>
            <a:r>
              <a:rPr lang="en-US" altLang="en-GB" b="1">
                <a:solidFill>
                  <a:schemeClr val="tx1">
                    <a:lumMod val="95000"/>
                    <a:lumOff val="5000"/>
                  </a:schemeClr>
                </a:solidFill>
                <a:latin typeface="Times New Roman" panose="02020603050405020304" charset="0"/>
                <a:cs typeface="Times New Roman" panose="02020603050405020304" charset="0"/>
                <a:sym typeface="+mn-ea"/>
              </a:rPr>
              <a:t>Dataset </a:t>
            </a:r>
            <a:r>
              <a:rPr lang="en-US" altLang="en-GB" b="1">
                <a:solidFill>
                  <a:schemeClr val="tx1">
                    <a:lumMod val="95000"/>
                    <a:lumOff val="5000"/>
                  </a:schemeClr>
                </a:solidFill>
                <a:latin typeface="Times New Roman" panose="02020603050405020304" charset="0"/>
                <a:cs typeface="Times New Roman" panose="02020603050405020304" charset="0"/>
              </a:rPr>
              <a:t>Overview</a:t>
            </a:r>
            <a:endParaRPr lang="en-US" altLang="en-GB" b="1">
              <a:solidFill>
                <a:schemeClr val="tx1">
                  <a:lumMod val="95000"/>
                  <a:lumOff val="5000"/>
                </a:schemeClr>
              </a:solidFill>
              <a:latin typeface="Times New Roman" panose="02020603050405020304" charset="0"/>
              <a:cs typeface="Times New Roman" panose="02020603050405020304" charset="0"/>
            </a:endParaRPr>
          </a:p>
          <a:p>
            <a:pPr marL="514350" indent="-514350" algn="l">
              <a:lnSpc>
                <a:spcPct val="150000"/>
              </a:lnSpc>
              <a:spcBef>
                <a:spcPts val="0"/>
              </a:spcBef>
              <a:spcAft>
                <a:spcPts val="0"/>
              </a:spcAft>
              <a:buFont typeface="+mj-lt"/>
              <a:buAutoNum type="arabicPeriod"/>
            </a:pPr>
            <a:r>
              <a:rPr lang="en-US" altLang="en-GB" b="1">
                <a:latin typeface="Times New Roman" panose="02020603050405020304" charset="0"/>
                <a:cs typeface="Times New Roman" panose="02020603050405020304" charset="0"/>
                <a:sym typeface="+mn-ea"/>
              </a:rPr>
              <a:t>Population Sustainability Score (PSS)</a:t>
            </a:r>
            <a:endParaRPr lang="en-US" altLang="en-GB" b="1">
              <a:latin typeface="Times New Roman" panose="02020603050405020304" charset="0"/>
              <a:cs typeface="Times New Roman" panose="02020603050405020304" charset="0"/>
              <a:sym typeface="+mn-ea"/>
            </a:endParaRPr>
          </a:p>
          <a:p>
            <a:pPr marL="514350" indent="-514350" algn="l">
              <a:lnSpc>
                <a:spcPct val="150000"/>
              </a:lnSpc>
              <a:spcBef>
                <a:spcPts val="0"/>
              </a:spcBef>
              <a:spcAft>
                <a:spcPts val="0"/>
              </a:spcAft>
              <a:buFont typeface="+mj-lt"/>
              <a:buAutoNum type="arabicPeriod"/>
            </a:pPr>
            <a:r>
              <a:rPr lang="en-US" altLang="en-GB" b="1">
                <a:latin typeface="Times New Roman" panose="02020603050405020304" charset="0"/>
                <a:cs typeface="Times New Roman" panose="02020603050405020304" charset="0"/>
                <a:sym typeface="+mn-ea"/>
              </a:rPr>
              <a:t>Clustering Based on Growth &amp; Sustainability</a:t>
            </a:r>
            <a:endParaRPr lang="en-US" altLang="en-GB" b="1">
              <a:latin typeface="Times New Roman" panose="02020603050405020304" charset="0"/>
              <a:cs typeface="Times New Roman" panose="02020603050405020304" charset="0"/>
              <a:sym typeface="+mn-ea"/>
            </a:endParaRPr>
          </a:p>
          <a:p>
            <a:pPr marL="514350" indent="-514350" algn="l">
              <a:lnSpc>
                <a:spcPct val="150000"/>
              </a:lnSpc>
              <a:spcBef>
                <a:spcPts val="0"/>
              </a:spcBef>
              <a:spcAft>
                <a:spcPts val="0"/>
              </a:spcAft>
              <a:buFont typeface="+mj-lt"/>
              <a:buAutoNum type="arabicPeriod"/>
            </a:pPr>
            <a:r>
              <a:rPr lang="en-US" altLang="en-GB" b="1">
                <a:latin typeface="Times New Roman" panose="02020603050405020304" charset="0"/>
                <a:cs typeface="Times New Roman" panose="02020603050405020304" charset="0"/>
                <a:sym typeface="+mn-ea"/>
              </a:rPr>
              <a:t>Population Forecasting</a:t>
            </a:r>
            <a:endParaRPr lang="en-IN" altLang="en-US" b="1">
              <a:latin typeface="Times New Roman" panose="02020603050405020304" charset="0"/>
              <a:cs typeface="Times New Roman" panose="02020603050405020304" charset="0"/>
            </a:endParaRPr>
          </a:p>
          <a:p>
            <a:pPr marL="514350" indent="-514350" algn="l">
              <a:lnSpc>
                <a:spcPct val="150000"/>
              </a:lnSpc>
              <a:spcBef>
                <a:spcPts val="0"/>
              </a:spcBef>
              <a:spcAft>
                <a:spcPts val="0"/>
              </a:spcAft>
              <a:buFont typeface="+mj-lt"/>
              <a:buAutoNum type="arabicPeriod"/>
            </a:pPr>
            <a:r>
              <a:rPr lang="en-IN" altLang="en-US" b="1">
                <a:solidFill>
                  <a:schemeClr val="tx1">
                    <a:lumMod val="95000"/>
                    <a:lumOff val="5000"/>
                  </a:schemeClr>
                </a:solidFill>
                <a:latin typeface="Times New Roman" panose="02020603050405020304" charset="0"/>
                <a:cs typeface="Times New Roman" panose="02020603050405020304" charset="0"/>
                <a:sym typeface="+mn-ea"/>
              </a:rPr>
              <a:t>My </a:t>
            </a:r>
            <a:r>
              <a:rPr lang="en-US" altLang="en-GB" b="1">
                <a:solidFill>
                  <a:schemeClr val="tx1">
                    <a:lumMod val="95000"/>
                    <a:lumOff val="5000"/>
                  </a:schemeClr>
                </a:solidFill>
                <a:latin typeface="Times New Roman" panose="02020603050405020304" charset="0"/>
                <a:cs typeface="Times New Roman" panose="02020603050405020304" charset="0"/>
                <a:sym typeface="+mn-ea"/>
              </a:rPr>
              <a:t>Novelty</a:t>
            </a:r>
            <a:endParaRPr lang="en-US" altLang="en-GB" b="1">
              <a:solidFill>
                <a:schemeClr val="tx1">
                  <a:lumMod val="95000"/>
                  <a:lumOff val="5000"/>
                </a:schemeClr>
              </a:solidFill>
              <a:latin typeface="Times New Roman" panose="02020603050405020304" charset="0"/>
              <a:cs typeface="Times New Roman" panose="02020603050405020304" charset="0"/>
            </a:endParaRPr>
          </a:p>
          <a:p>
            <a:pPr marL="514350" indent="-514350" algn="l">
              <a:lnSpc>
                <a:spcPct val="150000"/>
              </a:lnSpc>
              <a:spcBef>
                <a:spcPts val="0"/>
              </a:spcBef>
              <a:spcAft>
                <a:spcPts val="0"/>
              </a:spcAft>
              <a:buFont typeface="+mj-lt"/>
              <a:buAutoNum type="arabicPeriod"/>
            </a:pPr>
            <a:r>
              <a:rPr lang="en-IN" altLang="en-US" b="1">
                <a:solidFill>
                  <a:schemeClr val="tx1">
                    <a:lumMod val="95000"/>
                    <a:lumOff val="5000"/>
                  </a:schemeClr>
                </a:solidFill>
                <a:latin typeface="Times New Roman" panose="02020603050405020304" charset="0"/>
                <a:cs typeface="Times New Roman" panose="02020603050405020304" charset="0"/>
                <a:sym typeface="+mn-ea"/>
              </a:rPr>
              <a:t>Future Scope</a:t>
            </a:r>
            <a:endParaRPr lang="en-IN" altLang="en-US" b="1">
              <a:solidFill>
                <a:schemeClr val="tx1">
                  <a:lumMod val="95000"/>
                  <a:lumOff val="5000"/>
                </a:schemeClr>
              </a:solidFill>
              <a:latin typeface="Times New Roman" panose="02020603050405020304" charset="0"/>
              <a:cs typeface="Times New Roman" panose="02020603050405020304" charset="0"/>
            </a:endParaRPr>
          </a:p>
          <a:p>
            <a:pPr marL="514350" indent="-514350" algn="l">
              <a:lnSpc>
                <a:spcPct val="150000"/>
              </a:lnSpc>
              <a:spcBef>
                <a:spcPts val="0"/>
              </a:spcBef>
              <a:spcAft>
                <a:spcPts val="0"/>
              </a:spcAft>
              <a:buFont typeface="+mj-lt"/>
              <a:buAutoNum type="arabicPeriod"/>
            </a:pPr>
            <a:r>
              <a:rPr lang="en-IN" altLang="en-US" b="1">
                <a:solidFill>
                  <a:schemeClr val="tx1">
                    <a:lumMod val="95000"/>
                    <a:lumOff val="5000"/>
                  </a:schemeClr>
                </a:solidFill>
                <a:latin typeface="Times New Roman" panose="02020603050405020304" charset="0"/>
                <a:cs typeface="Times New Roman" panose="02020603050405020304" charset="0"/>
                <a:sym typeface="+mn-ea"/>
              </a:rPr>
              <a:t>Conclusion</a:t>
            </a:r>
            <a:endParaRPr lang="en-IN" altLang="en-US" b="1" dirty="0">
              <a:solidFill>
                <a:schemeClr val="tx1">
                  <a:lumMod val="95000"/>
                  <a:lumOff val="5000"/>
                </a:schemeClr>
              </a:solidFill>
              <a:latin typeface="Times New Roman" panose="02020603050405020304" charset="0"/>
              <a:cs typeface="Times New Roman" panose="02020603050405020304" charset="0"/>
              <a:sym typeface="+mn-ea"/>
            </a:endParaRPr>
          </a:p>
        </p:txBody>
      </p:sp>
      <p:sp>
        <p:nvSpPr>
          <p:cNvPr id="4" name="Text 1"/>
          <p:cNvSpPr/>
          <p:nvPr/>
        </p:nvSpPr>
        <p:spPr>
          <a:xfrm>
            <a:off x="528955" y="596900"/>
            <a:ext cx="3985895" cy="828040"/>
          </a:xfrm>
          <a:prstGeom prst="rect">
            <a:avLst/>
          </a:prstGeom>
          <a:noFill/>
        </p:spPr>
        <p:txBody>
          <a:bodyPr wrap="square"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7295"/>
              </a:lnSpc>
              <a:buNone/>
            </a:pPr>
            <a:r>
              <a:rPr lang="en-IN" sz="3200" b="1" u="sng" dirty="0">
                <a:solidFill>
                  <a:schemeClr val="tx1"/>
                </a:solidFill>
                <a:latin typeface="Times New Roman" panose="02020603050405020304" charset="0"/>
                <a:ea typeface="adonis-web" pitchFamily="34" charset="-122"/>
                <a:cs typeface="Times New Roman" panose="02020603050405020304" charset="0"/>
              </a:rPr>
              <a:t>Table Of Contents</a:t>
            </a:r>
            <a:endParaRPr lang="en-IN" sz="3200" b="1" u="sng" dirty="0">
              <a:solidFill>
                <a:schemeClr val="tx1"/>
              </a:solidFill>
              <a:latin typeface="Times New Roman" panose="02020603050405020304" charset="0"/>
              <a:ea typeface="adonis-web" pitchFamily="34"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rcRect t="20491" b="4676"/>
          <a:stretch>
            <a:fillRect/>
          </a:stretch>
        </p:blipFill>
        <p:spPr>
          <a:xfrm>
            <a:off x="0" y="0"/>
            <a:ext cx="12192000" cy="6858000"/>
          </a:xfrm>
          <a:prstGeom prst="rect">
            <a:avLst/>
          </a:prstGeom>
        </p:spPr>
      </p:pic>
      <p:sp>
        <p:nvSpPr>
          <p:cNvPr id="6" name="Content Placeholder 5"/>
          <p:cNvSpPr>
            <a:spLocks noGrp="1"/>
          </p:cNvSpPr>
          <p:nvPr>
            <p:ph idx="1"/>
          </p:nvPr>
        </p:nvSpPr>
        <p:spPr>
          <a:xfrm>
            <a:off x="984250" y="1530985"/>
            <a:ext cx="10223500" cy="2515235"/>
          </a:xfrm>
        </p:spPr>
        <p:txBody>
          <a:bodyPr>
            <a:normAutofit/>
          </a:bodyPr>
          <a:p>
            <a:pPr marL="0" indent="0" algn="ctr">
              <a:buNone/>
            </a:pPr>
            <a:r>
              <a:rPr lang="en-US" altLang="en-GB" sz="1800">
                <a:latin typeface="Times New Roman" panose="02020603050405020304" charset="0"/>
                <a:cs typeface="Times New Roman" panose="02020603050405020304" charset="0"/>
              </a:rPr>
              <a:t>This project aims to analyze and forecast global population trends through data-driven techniques. Using historical population data, we engineered a custom metric called the </a:t>
            </a:r>
            <a:r>
              <a:rPr lang="en-US" altLang="en-GB" sz="1800" b="1">
                <a:latin typeface="Times New Roman" panose="02020603050405020304" charset="0"/>
                <a:cs typeface="Times New Roman" panose="02020603050405020304" charset="0"/>
              </a:rPr>
              <a:t>Population Sustainability Score (PSS)</a:t>
            </a:r>
            <a:r>
              <a:rPr lang="en-US" altLang="en-GB" sz="1800">
                <a:latin typeface="Times New Roman" panose="02020603050405020304" charset="0"/>
                <a:cs typeface="Times New Roman" panose="02020603050405020304" charset="0"/>
              </a:rPr>
              <a:t> to assess how sustainable each country’s growth is.</a:t>
            </a:r>
            <a:endParaRPr lang="en-US" altLang="en-GB" sz="1800">
              <a:latin typeface="Times New Roman" panose="02020603050405020304" charset="0"/>
              <a:cs typeface="Times New Roman" panose="02020603050405020304" charset="0"/>
            </a:endParaRPr>
          </a:p>
          <a:p>
            <a:pPr marL="0" indent="0" algn="ctr">
              <a:buNone/>
            </a:pPr>
            <a:endParaRPr lang="en-US" altLang="en-GB" sz="1800">
              <a:latin typeface="Times New Roman" panose="02020603050405020304" charset="0"/>
              <a:cs typeface="Times New Roman" panose="02020603050405020304" charset="0"/>
            </a:endParaRPr>
          </a:p>
          <a:p>
            <a:pPr marL="0" indent="0" algn="ctr">
              <a:buNone/>
            </a:pPr>
            <a:r>
              <a:rPr lang="en-US" altLang="en-GB" sz="1800">
                <a:latin typeface="Times New Roman" panose="02020603050405020304" charset="0"/>
                <a:cs typeface="Times New Roman" panose="02020603050405020304" charset="0"/>
              </a:rPr>
              <a:t>We performed </a:t>
            </a:r>
            <a:r>
              <a:rPr lang="en-US" altLang="en-GB" sz="1800" b="1">
                <a:latin typeface="Times New Roman" panose="02020603050405020304" charset="0"/>
                <a:cs typeface="Times New Roman" panose="02020603050405020304" charset="0"/>
              </a:rPr>
              <a:t>clustering</a:t>
            </a:r>
            <a:r>
              <a:rPr lang="en-US" altLang="en-GB" sz="1800">
                <a:latin typeface="Times New Roman" panose="02020603050405020304" charset="0"/>
                <a:cs typeface="Times New Roman" panose="02020603050405020304" charset="0"/>
              </a:rPr>
              <a:t> to group countries with similar growth and sustainability profiles and applied Polynomial Regression to forecast population trends up to 2040. This approach helps in understanding demographic shifts and identifying countries with potential sustainable growth.</a:t>
            </a:r>
            <a:endParaRPr lang="en-US" altLang="en-GB" sz="1800">
              <a:latin typeface="Times New Roman" panose="02020603050405020304" charset="0"/>
              <a:cs typeface="Times New Roman" panose="02020603050405020304" charset="0"/>
            </a:endParaRPr>
          </a:p>
        </p:txBody>
      </p:sp>
      <p:sp>
        <p:nvSpPr>
          <p:cNvPr id="8" name="Title 7"/>
          <p:cNvSpPr>
            <a:spLocks noGrp="1"/>
          </p:cNvSpPr>
          <p:nvPr>
            <p:ph type="title"/>
          </p:nvPr>
        </p:nvSpPr>
        <p:spPr>
          <a:xfrm>
            <a:off x="4260215" y="0"/>
            <a:ext cx="3672205" cy="1325880"/>
          </a:xfrm>
        </p:spPr>
        <p:txBody>
          <a:bodyPr/>
          <a:p>
            <a:r>
              <a:rPr lang="en-IN" altLang="en-GB" sz="3600" b="1">
                <a:latin typeface="Times New Roman" panose="02020603050405020304" charset="0"/>
                <a:cs typeface="Times New Roman" panose="02020603050405020304" charset="0"/>
              </a:rPr>
              <a:t>Introduction</a:t>
            </a:r>
            <a:endParaRPr lang="en-IN" altLang="en-GB" sz="3600" b="1">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Text Box 7"/>
          <p:cNvSpPr txBox="1"/>
          <p:nvPr/>
        </p:nvSpPr>
        <p:spPr>
          <a:xfrm>
            <a:off x="683895" y="2531110"/>
            <a:ext cx="4064000" cy="1476375"/>
          </a:xfrm>
          <a:prstGeom prst="rect">
            <a:avLst/>
          </a:prstGeom>
          <a:noFill/>
        </p:spPr>
        <p:txBody>
          <a:bodyPr wrap="square" rtlCol="0">
            <a:spAutoFit/>
          </a:bodyPr>
          <a:p>
            <a:pPr>
              <a:lnSpc>
                <a:spcPct val="100000"/>
              </a:lnSpc>
            </a:pPr>
            <a:endParaRPr lang="en-US" altLang="en-GB">
              <a:latin typeface="Times New Roman" panose="02020603050405020304" charset="0"/>
              <a:cs typeface="Times New Roman" panose="02020603050405020304" charset="0"/>
            </a:endParaRPr>
          </a:p>
          <a:p>
            <a:pPr>
              <a:lnSpc>
                <a:spcPct val="100000"/>
              </a:lnSpc>
            </a:pPr>
            <a:endParaRPr lang="en-US" altLang="en-GB">
              <a:latin typeface="Times New Roman" panose="02020603050405020304" charset="0"/>
              <a:cs typeface="Times New Roman" panose="02020603050405020304" charset="0"/>
            </a:endParaRPr>
          </a:p>
          <a:p>
            <a:pPr>
              <a:lnSpc>
                <a:spcPct val="100000"/>
              </a:lnSpc>
            </a:pPr>
            <a:endParaRPr lang="en-US" altLang="en-GB">
              <a:latin typeface="Times New Roman" panose="02020603050405020304" charset="0"/>
              <a:cs typeface="Times New Roman" panose="02020603050405020304" charset="0"/>
            </a:endParaRPr>
          </a:p>
          <a:p>
            <a:pPr>
              <a:lnSpc>
                <a:spcPct val="100000"/>
              </a:lnSpc>
            </a:pPr>
            <a:endParaRPr lang="en-US" altLang="en-GB">
              <a:latin typeface="Times New Roman" panose="02020603050405020304" charset="0"/>
              <a:cs typeface="Times New Roman" panose="02020603050405020304" charset="0"/>
            </a:endParaRPr>
          </a:p>
          <a:p>
            <a:endParaRPr lang="en-GB" altLang="en-US"/>
          </a:p>
        </p:txBody>
      </p:sp>
      <p:pic>
        <p:nvPicPr>
          <p:cNvPr id="3" name="Picture 2"/>
          <p:cNvPicPr/>
          <p:nvPr/>
        </p:nvPicPr>
        <p:blipFill>
          <a:blip r:embed="rId1"/>
          <a:stretch>
            <a:fillRect/>
          </a:stretch>
        </p:blipFill>
        <p:spPr>
          <a:xfrm>
            <a:off x="0" y="0"/>
            <a:ext cx="12191365" cy="6858000"/>
          </a:xfrm>
          <a:prstGeom prst="rect">
            <a:avLst/>
          </a:prstGeom>
        </p:spPr>
      </p:pic>
      <p:sp>
        <p:nvSpPr>
          <p:cNvPr id="4" name="Text Box 3"/>
          <p:cNvSpPr txBox="1"/>
          <p:nvPr/>
        </p:nvSpPr>
        <p:spPr>
          <a:xfrm>
            <a:off x="1880870" y="1339850"/>
            <a:ext cx="1992630" cy="963930"/>
          </a:xfrm>
          <a:prstGeom prst="rect">
            <a:avLst/>
          </a:prstGeom>
          <a:noFill/>
        </p:spPr>
        <p:txBody>
          <a:bodyPr wrap="square" rtlCol="0" anchor="ctr" anchorCtr="0">
            <a:noAutofit/>
          </a:bodyPr>
          <a:p>
            <a:pPr algn="ctr">
              <a:lnSpc>
                <a:spcPct val="100000"/>
              </a:lnSpc>
            </a:pPr>
            <a:r>
              <a:rPr lang="en-IN" altLang="en-US">
                <a:latin typeface="Times New Roman" panose="02020603050405020304" charset="0"/>
                <a:cs typeface="Times New Roman" panose="02020603050405020304" charset="0"/>
              </a:rPr>
              <a:t>1. </a:t>
            </a:r>
            <a:r>
              <a:rPr lang="en-US" altLang="en-GB">
                <a:latin typeface="Times New Roman" panose="02020603050405020304" charset="0"/>
                <a:cs typeface="Times New Roman" panose="02020603050405020304" charset="0"/>
              </a:rPr>
              <a:t>Data Collection </a:t>
            </a:r>
            <a:endParaRPr lang="en-US" altLang="en-GB">
              <a:latin typeface="Times New Roman" panose="02020603050405020304" charset="0"/>
              <a:cs typeface="Times New Roman" panose="02020603050405020304" charset="0"/>
            </a:endParaRPr>
          </a:p>
          <a:p>
            <a:pPr algn="ctr">
              <a:lnSpc>
                <a:spcPct val="100000"/>
              </a:lnSpc>
            </a:pPr>
            <a:r>
              <a:rPr lang="en-US" altLang="en-GB">
                <a:latin typeface="Times New Roman" panose="02020603050405020304" charset="0"/>
                <a:cs typeface="Times New Roman" panose="02020603050405020304" charset="0"/>
              </a:rPr>
              <a:t>&amp; </a:t>
            </a:r>
            <a:endParaRPr lang="en-US" altLang="en-GB">
              <a:latin typeface="Times New Roman" panose="02020603050405020304" charset="0"/>
              <a:cs typeface="Times New Roman" panose="02020603050405020304" charset="0"/>
            </a:endParaRPr>
          </a:p>
          <a:p>
            <a:pPr algn="ctr">
              <a:lnSpc>
                <a:spcPct val="100000"/>
              </a:lnSpc>
            </a:pPr>
            <a:r>
              <a:rPr lang="en-US" altLang="en-GB">
                <a:latin typeface="Times New Roman" panose="02020603050405020304" charset="0"/>
                <a:cs typeface="Times New Roman" panose="02020603050405020304" charset="0"/>
              </a:rPr>
              <a:t>Cleaning</a:t>
            </a:r>
            <a:endParaRPr lang="en-US" altLang="en-GB">
              <a:latin typeface="Times New Roman" panose="02020603050405020304" charset="0"/>
              <a:cs typeface="Times New Roman" panose="02020603050405020304" charset="0"/>
            </a:endParaRPr>
          </a:p>
        </p:txBody>
      </p:sp>
      <p:sp>
        <p:nvSpPr>
          <p:cNvPr id="5" name="Text Box 4"/>
          <p:cNvSpPr txBox="1"/>
          <p:nvPr/>
        </p:nvSpPr>
        <p:spPr>
          <a:xfrm>
            <a:off x="5211445" y="979805"/>
            <a:ext cx="1796415" cy="889000"/>
          </a:xfrm>
          <a:prstGeom prst="rect">
            <a:avLst/>
          </a:prstGeom>
          <a:noFill/>
        </p:spPr>
        <p:txBody>
          <a:bodyPr wrap="square" rtlCol="0" anchor="ctr" anchorCtr="0">
            <a:noAutofit/>
          </a:bodyPr>
          <a:p>
            <a:pPr algn="ctr">
              <a:lnSpc>
                <a:spcPct val="100000"/>
              </a:lnSpc>
            </a:pPr>
            <a:r>
              <a:rPr lang="en-IN" altLang="en-US">
                <a:latin typeface="Times New Roman" panose="02020603050405020304" charset="0"/>
                <a:cs typeface="Times New Roman" panose="02020603050405020304" charset="0"/>
              </a:rPr>
              <a:t>2. </a:t>
            </a:r>
            <a:r>
              <a:rPr lang="en-US" altLang="en-GB">
                <a:latin typeface="Times New Roman" panose="02020603050405020304" charset="0"/>
                <a:cs typeface="Times New Roman" panose="02020603050405020304" charset="0"/>
              </a:rPr>
              <a:t>Feature Engineering</a:t>
            </a:r>
            <a:endParaRPr lang="en-US" altLang="en-GB">
              <a:latin typeface="Times New Roman" panose="02020603050405020304" charset="0"/>
              <a:cs typeface="Times New Roman" panose="02020603050405020304" charset="0"/>
            </a:endParaRPr>
          </a:p>
        </p:txBody>
      </p:sp>
      <p:sp>
        <p:nvSpPr>
          <p:cNvPr id="14" name="Text Box 13"/>
          <p:cNvSpPr txBox="1"/>
          <p:nvPr/>
        </p:nvSpPr>
        <p:spPr>
          <a:xfrm>
            <a:off x="8447405" y="1146175"/>
            <a:ext cx="1772285" cy="915035"/>
          </a:xfrm>
          <a:prstGeom prst="rect">
            <a:avLst/>
          </a:prstGeom>
          <a:noFill/>
        </p:spPr>
        <p:txBody>
          <a:bodyPr wrap="square" rtlCol="0" anchor="ctr" anchorCtr="0">
            <a:noAutofit/>
          </a:bodyPr>
          <a:p>
            <a:pPr>
              <a:lnSpc>
                <a:spcPct val="100000"/>
              </a:lnSpc>
            </a:pPr>
            <a:r>
              <a:rPr lang="en-IN" altLang="en-US">
                <a:latin typeface="Times New Roman" panose="02020603050405020304" charset="0"/>
                <a:cs typeface="Times New Roman" panose="02020603050405020304" charset="0"/>
              </a:rPr>
              <a:t>3. </a:t>
            </a:r>
            <a:r>
              <a:rPr lang="en-US" altLang="en-GB">
                <a:latin typeface="Times New Roman" panose="02020603050405020304" charset="0"/>
                <a:cs typeface="Times New Roman" panose="02020603050405020304" charset="0"/>
              </a:rPr>
              <a:t>Visualization</a:t>
            </a:r>
            <a:endParaRPr lang="en-US" altLang="en-GB">
              <a:latin typeface="Times New Roman" panose="02020603050405020304" charset="0"/>
              <a:cs typeface="Times New Roman" panose="02020603050405020304" charset="0"/>
            </a:endParaRPr>
          </a:p>
        </p:txBody>
      </p:sp>
      <p:sp>
        <p:nvSpPr>
          <p:cNvPr id="15" name="Text Box 14"/>
          <p:cNvSpPr txBox="1"/>
          <p:nvPr/>
        </p:nvSpPr>
        <p:spPr>
          <a:xfrm>
            <a:off x="2326005" y="5006340"/>
            <a:ext cx="1783080" cy="915670"/>
          </a:xfrm>
          <a:prstGeom prst="rect">
            <a:avLst/>
          </a:prstGeom>
          <a:noFill/>
        </p:spPr>
        <p:txBody>
          <a:bodyPr wrap="square" rtlCol="0" anchor="ctr" anchorCtr="0">
            <a:noAutofit/>
          </a:bodyPr>
          <a:p>
            <a:pPr algn="ctr">
              <a:lnSpc>
                <a:spcPct val="100000"/>
              </a:lnSpc>
            </a:pPr>
            <a:r>
              <a:rPr lang="en-IN" altLang="en-US">
                <a:latin typeface="Times New Roman" panose="02020603050405020304" charset="0"/>
                <a:cs typeface="Times New Roman" panose="02020603050405020304" charset="0"/>
              </a:rPr>
              <a:t>4. </a:t>
            </a:r>
            <a:r>
              <a:rPr lang="en-US" altLang="en-GB">
                <a:latin typeface="Times New Roman" panose="02020603050405020304" charset="0"/>
                <a:cs typeface="Times New Roman" panose="02020603050405020304" charset="0"/>
              </a:rPr>
              <a:t>Clustering Analysis</a:t>
            </a:r>
            <a:endParaRPr lang="en-US" altLang="en-GB">
              <a:latin typeface="Times New Roman" panose="02020603050405020304" charset="0"/>
              <a:cs typeface="Times New Roman" panose="02020603050405020304" charset="0"/>
            </a:endParaRPr>
          </a:p>
        </p:txBody>
      </p:sp>
      <p:sp>
        <p:nvSpPr>
          <p:cNvPr id="16" name="Text Box 15"/>
          <p:cNvSpPr txBox="1"/>
          <p:nvPr/>
        </p:nvSpPr>
        <p:spPr>
          <a:xfrm>
            <a:off x="5344795" y="5006340"/>
            <a:ext cx="1824355" cy="915670"/>
          </a:xfrm>
          <a:prstGeom prst="rect">
            <a:avLst/>
          </a:prstGeom>
          <a:noFill/>
        </p:spPr>
        <p:txBody>
          <a:bodyPr wrap="square" rtlCol="0" anchor="ctr" anchorCtr="0">
            <a:noAutofit/>
          </a:bodyPr>
          <a:p>
            <a:pPr algn="ctr">
              <a:lnSpc>
                <a:spcPct val="100000"/>
              </a:lnSpc>
            </a:pPr>
            <a:r>
              <a:rPr lang="en-IN" altLang="en-US">
                <a:latin typeface="Times New Roman" panose="02020603050405020304" charset="0"/>
                <a:cs typeface="Times New Roman" panose="02020603050405020304" charset="0"/>
              </a:rPr>
              <a:t>5. </a:t>
            </a:r>
            <a:r>
              <a:rPr lang="en-US" altLang="en-GB">
                <a:latin typeface="Times New Roman" panose="02020603050405020304" charset="0"/>
                <a:cs typeface="Times New Roman" panose="02020603050405020304" charset="0"/>
              </a:rPr>
              <a:t>Population Forecasting</a:t>
            </a:r>
            <a:endParaRPr lang="en-US" altLang="en-GB">
              <a:latin typeface="Times New Roman" panose="02020603050405020304" charset="0"/>
              <a:cs typeface="Times New Roman" panose="02020603050405020304" charset="0"/>
            </a:endParaRPr>
          </a:p>
        </p:txBody>
      </p:sp>
      <p:sp>
        <p:nvSpPr>
          <p:cNvPr id="17" name="Text Box 16"/>
          <p:cNvSpPr txBox="1"/>
          <p:nvPr/>
        </p:nvSpPr>
        <p:spPr>
          <a:xfrm>
            <a:off x="8307705" y="5006340"/>
            <a:ext cx="1811020" cy="930275"/>
          </a:xfrm>
          <a:prstGeom prst="rect">
            <a:avLst/>
          </a:prstGeom>
          <a:noFill/>
        </p:spPr>
        <p:txBody>
          <a:bodyPr wrap="square" rtlCol="0" anchor="ctr" anchorCtr="0">
            <a:noAutofit/>
          </a:bodyPr>
          <a:p>
            <a:pPr algn="ctr">
              <a:lnSpc>
                <a:spcPct val="100000"/>
              </a:lnSpc>
            </a:pPr>
            <a:r>
              <a:rPr lang="en-IN" altLang="en-US">
                <a:latin typeface="Times New Roman" panose="02020603050405020304" charset="0"/>
                <a:cs typeface="Times New Roman" panose="02020603050405020304" charset="0"/>
              </a:rPr>
              <a:t>6. </a:t>
            </a:r>
            <a:r>
              <a:rPr lang="en-US" altLang="en-GB">
                <a:latin typeface="Times New Roman" panose="02020603050405020304" charset="0"/>
                <a:cs typeface="Times New Roman" panose="02020603050405020304" charset="0"/>
              </a:rPr>
              <a:t>Insights </a:t>
            </a:r>
            <a:endParaRPr lang="en-US" altLang="en-GB">
              <a:latin typeface="Times New Roman" panose="02020603050405020304" charset="0"/>
              <a:cs typeface="Times New Roman" panose="02020603050405020304" charset="0"/>
            </a:endParaRPr>
          </a:p>
          <a:p>
            <a:pPr algn="ctr">
              <a:lnSpc>
                <a:spcPct val="100000"/>
              </a:lnSpc>
            </a:pPr>
            <a:r>
              <a:rPr lang="en-US" altLang="en-GB">
                <a:latin typeface="Times New Roman" panose="02020603050405020304" charset="0"/>
                <a:cs typeface="Times New Roman" panose="02020603050405020304" charset="0"/>
              </a:rPr>
              <a:t>&amp; </a:t>
            </a:r>
            <a:endParaRPr lang="en-US" altLang="en-GB">
              <a:latin typeface="Times New Roman" panose="02020603050405020304" charset="0"/>
              <a:cs typeface="Times New Roman" panose="02020603050405020304" charset="0"/>
            </a:endParaRPr>
          </a:p>
          <a:p>
            <a:pPr algn="ctr">
              <a:lnSpc>
                <a:spcPct val="100000"/>
              </a:lnSpc>
            </a:pPr>
            <a:r>
              <a:rPr lang="en-US" altLang="en-GB">
                <a:latin typeface="Times New Roman" panose="02020603050405020304" charset="0"/>
                <a:cs typeface="Times New Roman" panose="02020603050405020304" charset="0"/>
              </a:rPr>
              <a:t>Interpretation</a:t>
            </a:r>
            <a:endParaRPr lang="en-US" altLang="en-GB">
              <a:latin typeface="Times New Roman" panose="02020603050405020304" charset="0"/>
              <a:cs typeface="Times New Roman" panose="02020603050405020304" charset="0"/>
            </a:endParaRPr>
          </a:p>
        </p:txBody>
      </p:sp>
      <p:sp>
        <p:nvSpPr>
          <p:cNvPr id="19" name="Title 1"/>
          <p:cNvSpPr>
            <a:spLocks noGrp="1"/>
          </p:cNvSpPr>
          <p:nvPr/>
        </p:nvSpPr>
        <p:spPr>
          <a:xfrm>
            <a:off x="4217035" y="3003550"/>
            <a:ext cx="4701540" cy="8680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GB" sz="2800" b="1">
                <a:latin typeface="Times New Roman" panose="02020603050405020304" charset="0"/>
                <a:cs typeface="Times New Roman" panose="02020603050405020304" charset="0"/>
              </a:rPr>
              <a:t>Project Workflow Overview</a:t>
            </a:r>
            <a:endParaRPr lang="en-US" altLang="en-GB" sz="2800" b="1">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190365" y="0"/>
            <a:ext cx="3811270" cy="1325880"/>
          </a:xfrm>
        </p:spPr>
        <p:txBody>
          <a:bodyPr>
            <a:normAutofit/>
          </a:bodyPr>
          <a:p>
            <a:r>
              <a:rPr lang="en-US" altLang="en-GB" sz="3600" b="1">
                <a:latin typeface="Times New Roman" panose="02020603050405020304" charset="0"/>
                <a:cs typeface="Times New Roman" panose="02020603050405020304" charset="0"/>
              </a:rPr>
              <a:t>Dataset Overview</a:t>
            </a:r>
            <a:endParaRPr lang="en-US" altLang="en-GB" sz="36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306070" y="994410"/>
            <a:ext cx="10515600" cy="1014095"/>
          </a:xfrm>
        </p:spPr>
        <p:txBody>
          <a:bodyPr>
            <a:noAutofit/>
          </a:bodyPr>
          <a:p>
            <a:pPr marL="0" indent="0">
              <a:buNone/>
            </a:pPr>
            <a:r>
              <a:rPr lang="en-US" altLang="en-GB" sz="1800" b="1" u="sng">
                <a:latin typeface="Times New Roman" panose="02020603050405020304" charset="0"/>
                <a:cs typeface="Times New Roman" panose="02020603050405020304" charset="0"/>
              </a:rPr>
              <a:t>Source:</a:t>
            </a:r>
            <a:r>
              <a:rPr lang="en-US" altLang="en-GB" sz="1800">
                <a:latin typeface="Times New Roman" panose="02020603050405020304" charset="0"/>
                <a:cs typeface="Times New Roman" panose="02020603050405020304" charset="0"/>
              </a:rPr>
              <a:t> </a:t>
            </a:r>
            <a:r>
              <a:rPr lang="en-IN" altLang="en-US" sz="1800">
                <a:latin typeface="Times New Roman" panose="02020603050405020304" charset="0"/>
                <a:cs typeface="Times New Roman" panose="02020603050405020304" charset="0"/>
              </a:rPr>
              <a:t>Kaggle</a:t>
            </a:r>
            <a:r>
              <a:rPr lang="en-US" altLang="en-GB" sz="1800">
                <a:latin typeface="Times New Roman" panose="02020603050405020304" charset="0"/>
                <a:cs typeface="Times New Roman" panose="02020603050405020304" charset="0"/>
              </a:rPr>
              <a:t> (World Population Analysis)</a:t>
            </a:r>
            <a:endParaRPr lang="en-US" altLang="en-GB" sz="1800">
              <a:latin typeface="Times New Roman" panose="02020603050405020304" charset="0"/>
              <a:cs typeface="Times New Roman" panose="02020603050405020304" charset="0"/>
            </a:endParaRPr>
          </a:p>
          <a:p>
            <a:pPr marL="0" indent="0">
              <a:buNone/>
            </a:pPr>
            <a:r>
              <a:rPr lang="en-US" altLang="en-GB" sz="1800" b="1" u="sng">
                <a:latin typeface="Times New Roman" panose="02020603050405020304" charset="0"/>
                <a:cs typeface="Times New Roman" panose="02020603050405020304" charset="0"/>
              </a:rPr>
              <a:t>Total Records:</a:t>
            </a:r>
            <a:r>
              <a:rPr lang="en-US" altLang="en-GB" sz="1800">
                <a:latin typeface="Times New Roman" panose="02020603050405020304" charset="0"/>
                <a:cs typeface="Times New Roman" panose="02020603050405020304" charset="0"/>
              </a:rPr>
              <a:t> </a:t>
            </a:r>
            <a:r>
              <a:rPr lang="en-IN" altLang="en-US" sz="1800">
                <a:latin typeface="Times New Roman" panose="02020603050405020304" charset="0"/>
                <a:cs typeface="Times New Roman" panose="02020603050405020304" charset="0"/>
              </a:rPr>
              <a:t>200</a:t>
            </a:r>
            <a:r>
              <a:rPr lang="en-US" altLang="en-GB" sz="1800">
                <a:latin typeface="Times New Roman" panose="02020603050405020304" charset="0"/>
                <a:cs typeface="Times New Roman" panose="02020603050405020304" charset="0"/>
              </a:rPr>
              <a:t> rows, </a:t>
            </a:r>
            <a:r>
              <a:rPr lang="en-IN" altLang="en-US" sz="1800">
                <a:latin typeface="Times New Roman" panose="02020603050405020304" charset="0"/>
                <a:cs typeface="Times New Roman" panose="02020603050405020304" charset="0"/>
              </a:rPr>
              <a:t>14</a:t>
            </a:r>
            <a:r>
              <a:rPr lang="en-US" altLang="en-GB" sz="1800">
                <a:latin typeface="Times New Roman" panose="02020603050405020304" charset="0"/>
                <a:cs typeface="Times New Roman" panose="02020603050405020304" charset="0"/>
              </a:rPr>
              <a:t> cities</a:t>
            </a:r>
            <a:endParaRPr lang="en-US" altLang="en-GB" sz="1800">
              <a:latin typeface="Times New Roman" panose="02020603050405020304" charset="0"/>
              <a:cs typeface="Times New Roman" panose="02020603050405020304" charset="0"/>
            </a:endParaRPr>
          </a:p>
          <a:p>
            <a:pPr marL="0" indent="0">
              <a:buNone/>
            </a:pPr>
            <a:endParaRPr lang="en-US" altLang="en-GB" sz="1600" b="1" u="sng">
              <a:latin typeface="Times New Roman" panose="02020603050405020304" charset="0"/>
              <a:cs typeface="Times New Roman" panose="02020603050405020304" charset="0"/>
            </a:endParaRPr>
          </a:p>
          <a:p>
            <a:pPr marL="0" indent="0">
              <a:buNone/>
            </a:pPr>
            <a:endParaRPr lang="en-US" altLang="en-GB" sz="1600" b="1" u="sng">
              <a:latin typeface="Times New Roman" panose="02020603050405020304" charset="0"/>
              <a:cs typeface="Times New Roman" panose="02020603050405020304" charset="0"/>
            </a:endParaRPr>
          </a:p>
          <a:p>
            <a:pPr marL="0" indent="0">
              <a:buNone/>
            </a:pPr>
            <a:endParaRPr lang="en-US" altLang="en-GB" sz="1600" b="1" u="sng">
              <a:latin typeface="Times New Roman" panose="02020603050405020304" charset="0"/>
              <a:cs typeface="Times New Roman" panose="02020603050405020304" charset="0"/>
            </a:endParaRPr>
          </a:p>
          <a:p>
            <a:pPr marL="0" indent="0">
              <a:buNone/>
            </a:pPr>
            <a:endParaRPr lang="en-US" altLang="en-GB" sz="1600" b="1" u="sng">
              <a:latin typeface="Times New Roman" panose="02020603050405020304" charset="0"/>
              <a:cs typeface="Times New Roman" panose="02020603050405020304" charset="0"/>
            </a:endParaRPr>
          </a:p>
          <a:p>
            <a:pPr marL="0" indent="0">
              <a:buNone/>
            </a:pPr>
            <a:endParaRPr lang="en-US" altLang="en-GB" sz="1600" b="1" u="sng">
              <a:latin typeface="Times New Roman" panose="02020603050405020304" charset="0"/>
              <a:cs typeface="Times New Roman" panose="02020603050405020304" charset="0"/>
            </a:endParaRPr>
          </a:p>
          <a:p>
            <a:pPr marL="0" indent="0">
              <a:buNone/>
            </a:pPr>
            <a:endParaRPr lang="en-US" altLang="en-GB" sz="1600" b="1" u="sng">
              <a:latin typeface="Times New Roman" panose="02020603050405020304" charset="0"/>
              <a:cs typeface="Times New Roman" panose="02020603050405020304" charset="0"/>
            </a:endParaRPr>
          </a:p>
          <a:p>
            <a:pPr marL="0" indent="0">
              <a:buNone/>
            </a:pPr>
            <a:endParaRPr lang="en-US" altLang="en-GB" sz="1600" b="1" u="sng">
              <a:latin typeface="Times New Roman" panose="02020603050405020304" charset="0"/>
              <a:cs typeface="Times New Roman" panose="02020603050405020304" charset="0"/>
            </a:endParaRPr>
          </a:p>
          <a:p>
            <a:pPr marL="0" indent="0">
              <a:buNone/>
            </a:pPr>
            <a:endParaRPr lang="en-US" altLang="en-GB" sz="1600" b="1" u="sng">
              <a:latin typeface="Times New Roman" panose="02020603050405020304" charset="0"/>
              <a:cs typeface="Times New Roman" panose="02020603050405020304" charset="0"/>
            </a:endParaRPr>
          </a:p>
          <a:p>
            <a:pPr marL="0" indent="0">
              <a:buNone/>
            </a:pPr>
            <a:endParaRPr lang="en-US" altLang="en-GB" sz="1600">
              <a:latin typeface="Times New Roman" panose="02020603050405020304" charset="0"/>
              <a:cs typeface="Times New Roman" panose="02020603050405020304" charset="0"/>
            </a:endParaRPr>
          </a:p>
          <a:p>
            <a:pPr marL="0" indent="0">
              <a:buNone/>
            </a:pPr>
            <a:endParaRPr lang="en-US" altLang="en-GB" sz="16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153035" y="1884680"/>
            <a:ext cx="11862435" cy="44786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62760" y="0"/>
            <a:ext cx="8665845" cy="1325880"/>
          </a:xfrm>
        </p:spPr>
        <p:txBody>
          <a:bodyPr>
            <a:normAutofit/>
          </a:bodyPr>
          <a:p>
            <a:r>
              <a:rPr lang="en-IN" altLang="en-US" sz="3200" b="1">
                <a:latin typeface="Times New Roman" panose="02020603050405020304" charset="0"/>
                <a:cs typeface="Times New Roman" panose="02020603050405020304" charset="0"/>
              </a:rPr>
              <a:t>What is </a:t>
            </a:r>
            <a:r>
              <a:rPr lang="en-US" altLang="en-GB" sz="3200" b="1">
                <a:latin typeface="Times New Roman" panose="02020603050405020304" charset="0"/>
                <a:cs typeface="Times New Roman" panose="02020603050405020304" charset="0"/>
              </a:rPr>
              <a:t>Population Sustainability Score (PSS)</a:t>
            </a:r>
            <a:r>
              <a:rPr lang="en-IN" altLang="en-US" sz="3200" b="1">
                <a:latin typeface="Times New Roman" panose="02020603050405020304" charset="0"/>
                <a:cs typeface="Times New Roman" panose="02020603050405020304" charset="0"/>
              </a:rPr>
              <a:t> ?</a:t>
            </a:r>
            <a:endParaRPr lang="en-IN" altLang="en-US" sz="32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060450" y="1325880"/>
            <a:ext cx="10126980" cy="4770120"/>
          </a:xfrm>
        </p:spPr>
        <p:txBody>
          <a:bodyPr>
            <a:noAutofit/>
          </a:bodyPr>
          <a:p>
            <a:pPr marL="0" indent="0" algn="l">
              <a:buNone/>
            </a:pPr>
            <a:r>
              <a:rPr lang="en-US" altLang="en-GB" sz="1700">
                <a:latin typeface="Times New Roman" panose="02020603050405020304" charset="0"/>
                <a:cs typeface="Times New Roman" panose="02020603050405020304" charset="0"/>
              </a:rPr>
              <a:t>The Population Sustainability Score (PSS) is a</a:t>
            </a:r>
            <a:r>
              <a:rPr lang="en-US" altLang="en-GB" sz="1700" b="1">
                <a:latin typeface="Times New Roman" panose="02020603050405020304" charset="0"/>
                <a:cs typeface="Times New Roman" panose="02020603050405020304" charset="0"/>
              </a:rPr>
              <a:t> metric</a:t>
            </a:r>
            <a:r>
              <a:rPr lang="en-US" altLang="en-GB" sz="1700">
                <a:latin typeface="Times New Roman" panose="02020603050405020304" charset="0"/>
                <a:cs typeface="Times New Roman" panose="02020603050405020304" charset="0"/>
              </a:rPr>
              <a:t> created to measure how sustainable a country's population growth is. It is calculated as:</a:t>
            </a:r>
            <a:endParaRPr lang="en-US" altLang="en-GB" sz="1700">
              <a:latin typeface="Times New Roman" panose="02020603050405020304" charset="0"/>
              <a:cs typeface="Times New Roman" panose="02020603050405020304" charset="0"/>
            </a:endParaRPr>
          </a:p>
          <a:p>
            <a:pPr marL="0" indent="0" algn="l">
              <a:buNone/>
            </a:pPr>
            <a:endParaRPr lang="en-US" altLang="en-GB" sz="1700">
              <a:latin typeface="Times New Roman" panose="02020603050405020304" charset="0"/>
              <a:cs typeface="Times New Roman" panose="02020603050405020304" charset="0"/>
            </a:endParaRPr>
          </a:p>
          <a:p>
            <a:pPr marL="0" indent="0" algn="ctr">
              <a:buNone/>
            </a:pPr>
            <a:r>
              <a:rPr lang="en-US" altLang="en-GB" sz="1700">
                <a:latin typeface="Times New Roman" panose="02020603050405020304" charset="0"/>
                <a:cs typeface="Times New Roman" panose="02020603050405020304" charset="0"/>
              </a:rPr>
              <a:t>PSS = Growth Rate / Population Density</a:t>
            </a:r>
            <a:endParaRPr lang="en-US" altLang="en-GB" sz="1700">
              <a:latin typeface="Times New Roman" panose="02020603050405020304" charset="0"/>
              <a:cs typeface="Times New Roman" panose="02020603050405020304" charset="0"/>
            </a:endParaRPr>
          </a:p>
          <a:p>
            <a:pPr marL="0" indent="0" algn="l">
              <a:buNone/>
            </a:pPr>
            <a:endParaRPr lang="en-US" altLang="en-GB" sz="1700">
              <a:latin typeface="Times New Roman" panose="02020603050405020304" charset="0"/>
              <a:cs typeface="Times New Roman" panose="02020603050405020304" charset="0"/>
            </a:endParaRPr>
          </a:p>
          <a:p>
            <a:pPr marL="0" indent="0" algn="l">
              <a:buNone/>
            </a:pPr>
            <a:r>
              <a:rPr lang="en-US" altLang="en-GB" sz="1700" b="1">
                <a:latin typeface="Times New Roman" panose="02020603050405020304" charset="0"/>
                <a:cs typeface="Times New Roman" panose="02020603050405020304" charset="0"/>
              </a:rPr>
              <a:t>Growth Rate:</a:t>
            </a:r>
            <a:r>
              <a:rPr lang="en-US" altLang="en-GB" sz="1700">
                <a:latin typeface="Times New Roman" panose="02020603050405020304" charset="0"/>
                <a:cs typeface="Times New Roman" panose="02020603050405020304" charset="0"/>
              </a:rPr>
              <a:t> How fast the population is increasing.</a:t>
            </a:r>
            <a:endParaRPr lang="en-US" altLang="en-GB" sz="1700">
              <a:latin typeface="Times New Roman" panose="02020603050405020304" charset="0"/>
              <a:cs typeface="Times New Roman" panose="02020603050405020304" charset="0"/>
            </a:endParaRPr>
          </a:p>
          <a:p>
            <a:pPr marL="0" indent="0" algn="l">
              <a:buNone/>
            </a:pPr>
            <a:r>
              <a:rPr lang="en-US" altLang="en-GB" sz="1700" b="1">
                <a:latin typeface="Times New Roman" panose="02020603050405020304" charset="0"/>
                <a:cs typeface="Times New Roman" panose="02020603050405020304" charset="0"/>
              </a:rPr>
              <a:t>Population Density:</a:t>
            </a:r>
            <a:r>
              <a:rPr lang="en-US" altLang="en-GB" sz="1700">
                <a:latin typeface="Times New Roman" panose="02020603050405020304" charset="0"/>
                <a:cs typeface="Times New Roman" panose="02020603050405020304" charset="0"/>
              </a:rPr>
              <a:t> How many people live in a given area (per km</a:t>
            </a:r>
            <a:r>
              <a:rPr lang="en-US" altLang="en-US" sz="1700">
                <a:latin typeface="Times New Roman" panose="02020603050405020304" charset="0"/>
                <a:cs typeface="Times New Roman" panose="02020603050405020304" charset="0"/>
              </a:rPr>
              <a:t>²</a:t>
            </a:r>
            <a:r>
              <a:rPr lang="en-US" altLang="en-GB" sz="1700">
                <a:latin typeface="Times New Roman" panose="02020603050405020304" charset="0"/>
                <a:cs typeface="Times New Roman" panose="02020603050405020304" charset="0"/>
              </a:rPr>
              <a:t>).</a:t>
            </a:r>
            <a:endParaRPr lang="en-US" altLang="en-GB" sz="1700">
              <a:latin typeface="Times New Roman" panose="02020603050405020304" charset="0"/>
              <a:cs typeface="Times New Roman" panose="02020603050405020304" charset="0"/>
            </a:endParaRPr>
          </a:p>
          <a:p>
            <a:pPr marL="0" indent="0" algn="l">
              <a:buNone/>
            </a:pPr>
            <a:endParaRPr lang="en-US" altLang="en-GB" sz="1700">
              <a:latin typeface="Times New Roman" panose="02020603050405020304" charset="0"/>
              <a:cs typeface="Times New Roman" panose="02020603050405020304" charset="0"/>
            </a:endParaRPr>
          </a:p>
          <a:p>
            <a:pPr marL="0" indent="0" algn="l">
              <a:buNone/>
            </a:pPr>
            <a:r>
              <a:rPr lang="en-US" altLang="en-GB" sz="1700" b="1" u="sng">
                <a:latin typeface="Times New Roman" panose="02020603050405020304" charset="0"/>
                <a:cs typeface="Times New Roman" panose="02020603050405020304" charset="0"/>
              </a:rPr>
              <a:t>Why It Matters?</a:t>
            </a:r>
            <a:endParaRPr lang="en-US" altLang="en-GB" sz="1700" b="1" u="sng">
              <a:latin typeface="Times New Roman" panose="02020603050405020304" charset="0"/>
              <a:cs typeface="Times New Roman" panose="02020603050405020304" charset="0"/>
            </a:endParaRPr>
          </a:p>
          <a:p>
            <a:pPr marL="0" indent="0" algn="l">
              <a:buNone/>
            </a:pPr>
            <a:endParaRPr lang="en-US" altLang="en-GB" sz="1700" b="1" u="sng">
              <a:latin typeface="Times New Roman" panose="02020603050405020304" charset="0"/>
              <a:cs typeface="Times New Roman" panose="02020603050405020304" charset="0"/>
            </a:endParaRPr>
          </a:p>
          <a:p>
            <a:pPr marL="0" indent="0" algn="l">
              <a:buNone/>
            </a:pPr>
            <a:r>
              <a:rPr lang="en-US" altLang="en-GB" sz="1700" b="1">
                <a:latin typeface="Times New Roman" panose="02020603050405020304" charset="0"/>
                <a:cs typeface="Times New Roman" panose="02020603050405020304" charset="0"/>
              </a:rPr>
              <a:t>High Growth with Low Density:</a:t>
            </a:r>
            <a:r>
              <a:rPr lang="en-US" altLang="en-GB" sz="1700">
                <a:latin typeface="Times New Roman" panose="02020603050405020304" charset="0"/>
                <a:cs typeface="Times New Roman" panose="02020603050405020304" charset="0"/>
              </a:rPr>
              <a:t> Countries with fast-growing populations but fewer people living in a large area are seen as more sustainable. They have more room to grow without overcrowding.</a:t>
            </a:r>
            <a:endParaRPr lang="en-US" altLang="en-GB" sz="1700">
              <a:latin typeface="Times New Roman" panose="02020603050405020304" charset="0"/>
              <a:cs typeface="Times New Roman" panose="02020603050405020304" charset="0"/>
            </a:endParaRPr>
          </a:p>
          <a:p>
            <a:pPr marL="0" indent="0" algn="l">
              <a:buNone/>
            </a:pPr>
            <a:endParaRPr lang="en-US" altLang="en-GB" sz="1700">
              <a:latin typeface="Times New Roman" panose="02020603050405020304" charset="0"/>
              <a:cs typeface="Times New Roman" panose="02020603050405020304" charset="0"/>
            </a:endParaRPr>
          </a:p>
          <a:p>
            <a:pPr marL="0" indent="0" algn="l">
              <a:buNone/>
            </a:pPr>
            <a:r>
              <a:rPr lang="en-US" altLang="en-GB" sz="1700" b="1">
                <a:latin typeface="Times New Roman" panose="02020603050405020304" charset="0"/>
                <a:cs typeface="Times New Roman" panose="02020603050405020304" charset="0"/>
              </a:rPr>
              <a:t>Low Growth with High Density:</a:t>
            </a:r>
            <a:r>
              <a:rPr lang="en-US" altLang="en-GB" sz="1700">
                <a:latin typeface="Times New Roman" panose="02020603050405020304" charset="0"/>
                <a:cs typeface="Times New Roman" panose="02020603050405020304" charset="0"/>
              </a:rPr>
              <a:t> Countries with slow population growth but high density may face sustainability challenges like resource scarcity or overcrowding.</a:t>
            </a:r>
            <a:endParaRPr lang="en-US" altLang="en-GB" sz="170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92630" y="-125730"/>
            <a:ext cx="8262620" cy="1325880"/>
          </a:xfrm>
        </p:spPr>
        <p:txBody>
          <a:bodyPr>
            <a:normAutofit/>
          </a:bodyPr>
          <a:p>
            <a:r>
              <a:rPr lang="en-US" altLang="en-GB" sz="3000" b="1">
                <a:latin typeface="Times New Roman" panose="02020603050405020304" charset="0"/>
                <a:cs typeface="Times New Roman" panose="02020603050405020304" charset="0"/>
              </a:rPr>
              <a:t>Clustering Based on Growth &amp; Sustainability</a:t>
            </a:r>
            <a:endParaRPr lang="en-US" altLang="en-GB" sz="30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393700" y="784225"/>
            <a:ext cx="10972165" cy="4770120"/>
          </a:xfrm>
        </p:spPr>
        <p:txBody>
          <a:bodyPr>
            <a:noAutofit/>
          </a:bodyPr>
          <a:p>
            <a:pPr marL="0" indent="0" algn="l">
              <a:buNone/>
            </a:pPr>
            <a:r>
              <a:rPr lang="en-US" altLang="en-GB" sz="1700">
                <a:latin typeface="Times New Roman" panose="02020603050405020304" charset="0"/>
                <a:cs typeface="Times New Roman" panose="02020603050405020304" charset="0"/>
              </a:rPr>
              <a:t>Applied KMeans clustering using:</a:t>
            </a:r>
            <a:endParaRPr lang="en-US" altLang="en-GB" sz="1700">
              <a:latin typeface="Times New Roman" panose="02020603050405020304" charset="0"/>
              <a:cs typeface="Times New Roman" panose="02020603050405020304" charset="0"/>
            </a:endParaRPr>
          </a:p>
          <a:p>
            <a:pPr marL="800100" lvl="1" indent="-342900" algn="l">
              <a:buFont typeface="+mj-lt"/>
              <a:buAutoNum type="arabicPeriod"/>
            </a:pPr>
            <a:r>
              <a:rPr lang="en-US" altLang="en-GB" sz="1800">
                <a:latin typeface="Times New Roman" panose="02020603050405020304" charset="0"/>
                <a:cs typeface="Times New Roman" panose="02020603050405020304" charset="0"/>
              </a:rPr>
              <a:t>Features: Growth Rate and PSS</a:t>
            </a:r>
            <a:r>
              <a:rPr lang="en-IN" altLang="en-US" sz="1800">
                <a:latin typeface="Times New Roman" panose="02020603050405020304" charset="0"/>
                <a:cs typeface="Times New Roman" panose="02020603050405020304" charset="0"/>
              </a:rPr>
              <a:t>                   2. </a:t>
            </a:r>
            <a:r>
              <a:rPr lang="en-US" altLang="en-GB" sz="1800">
                <a:latin typeface="Times New Roman" panose="02020603050405020304" charset="0"/>
                <a:cs typeface="Times New Roman" panose="02020603050405020304" charset="0"/>
              </a:rPr>
              <a:t>Number of clusters chosen: [e.g., 3]</a:t>
            </a:r>
            <a:endParaRPr lang="en-US" altLang="en-GB" sz="1700" b="1">
              <a:latin typeface="Times New Roman" panose="02020603050405020304" charset="0"/>
              <a:cs typeface="Times New Roman" panose="02020603050405020304" charset="0"/>
            </a:endParaRPr>
          </a:p>
          <a:p>
            <a:pPr marL="0" indent="0" algn="l">
              <a:buNone/>
            </a:pPr>
            <a:r>
              <a:rPr lang="en-US" altLang="en-GB" sz="1700" b="1">
                <a:latin typeface="Times New Roman" panose="02020603050405020304" charset="0"/>
                <a:cs typeface="Times New Roman" panose="02020603050405020304" charset="0"/>
              </a:rPr>
              <a:t>Cluster Distribution:</a:t>
            </a:r>
            <a:r>
              <a:rPr lang="en-US" altLang="en-GB" sz="1700">
                <a:latin typeface="Times New Roman" panose="02020603050405020304" charset="0"/>
                <a:cs typeface="Times New Roman" panose="02020603050405020304" charset="0"/>
              </a:rPr>
              <a:t> Number of countries per cluster</a:t>
            </a:r>
            <a:r>
              <a:rPr lang="en-IN" altLang="en-US" sz="1700">
                <a:latin typeface="Times New Roman" panose="02020603050405020304" charset="0"/>
                <a:cs typeface="Times New Roman" panose="02020603050405020304" charset="0"/>
              </a:rPr>
              <a:t> (</a:t>
            </a:r>
            <a:r>
              <a:rPr lang="en-US" altLang="en-GB" sz="1700">
                <a:latin typeface="Times New Roman" panose="02020603050405020304" charset="0"/>
                <a:cs typeface="Times New Roman" panose="02020603050405020304" charset="0"/>
                <a:sym typeface="+mn-ea"/>
              </a:rPr>
              <a:t>Visualized clusters using scatter plot</a:t>
            </a:r>
            <a:r>
              <a:rPr lang="en-IN" altLang="en-US" sz="1700">
                <a:latin typeface="Times New Roman" panose="02020603050405020304" charset="0"/>
                <a:cs typeface="Times New Roman" panose="02020603050405020304" charset="0"/>
              </a:rPr>
              <a:t>)</a:t>
            </a:r>
            <a:endParaRPr lang="en-US" altLang="en-GB" sz="1700">
              <a:latin typeface="Times New Roman" panose="02020603050405020304" charset="0"/>
              <a:cs typeface="Times New Roman" panose="02020603050405020304" charset="0"/>
            </a:endParaRPr>
          </a:p>
          <a:p>
            <a:pPr marL="0" indent="0" algn="l">
              <a:buNone/>
            </a:pPr>
            <a:endParaRPr lang="en-US" altLang="en-GB" sz="1700" b="1">
              <a:latin typeface="Times New Roman" panose="02020603050405020304" charset="0"/>
              <a:cs typeface="Times New Roman" panose="02020603050405020304" charset="0"/>
            </a:endParaRPr>
          </a:p>
          <a:p>
            <a:pPr marL="0" indent="0" algn="l">
              <a:buNone/>
            </a:pPr>
            <a:endParaRPr lang="en-US" altLang="en-GB" sz="1700" b="1">
              <a:latin typeface="Times New Roman" panose="02020603050405020304" charset="0"/>
              <a:cs typeface="Times New Roman" panose="02020603050405020304" charset="0"/>
            </a:endParaRPr>
          </a:p>
          <a:p>
            <a:pPr marL="0" indent="0" algn="l">
              <a:buNone/>
            </a:pPr>
            <a:endParaRPr lang="en-US" altLang="en-GB" sz="1700" b="1">
              <a:latin typeface="Times New Roman" panose="02020603050405020304" charset="0"/>
              <a:cs typeface="Times New Roman" panose="02020603050405020304" charset="0"/>
            </a:endParaRPr>
          </a:p>
          <a:p>
            <a:pPr marL="0" indent="0" algn="l">
              <a:buNone/>
            </a:pPr>
            <a:endParaRPr lang="en-US" altLang="en-GB" sz="1700" b="1">
              <a:latin typeface="Times New Roman" panose="02020603050405020304" charset="0"/>
              <a:cs typeface="Times New Roman" panose="02020603050405020304" charset="0"/>
            </a:endParaRPr>
          </a:p>
          <a:p>
            <a:pPr marL="0" indent="0" algn="l">
              <a:buNone/>
            </a:pPr>
            <a:endParaRPr lang="en-US" altLang="en-GB" sz="1700" b="1">
              <a:latin typeface="Times New Roman" panose="02020603050405020304" charset="0"/>
              <a:cs typeface="Times New Roman" panose="02020603050405020304" charset="0"/>
            </a:endParaRPr>
          </a:p>
          <a:p>
            <a:pPr marL="0" indent="0" algn="l">
              <a:buNone/>
            </a:pPr>
            <a:endParaRPr lang="en-US" altLang="en-GB" sz="1700" b="1">
              <a:latin typeface="Times New Roman" panose="02020603050405020304" charset="0"/>
              <a:cs typeface="Times New Roman" panose="02020603050405020304" charset="0"/>
            </a:endParaRPr>
          </a:p>
          <a:p>
            <a:pPr marL="0" indent="0" algn="l">
              <a:buNone/>
            </a:pPr>
            <a:endParaRPr lang="en-US" altLang="en-GB" sz="1700" b="1">
              <a:latin typeface="Times New Roman" panose="02020603050405020304" charset="0"/>
              <a:cs typeface="Times New Roman" panose="02020603050405020304" charset="0"/>
            </a:endParaRPr>
          </a:p>
          <a:p>
            <a:pPr marL="0" indent="0" algn="l">
              <a:buNone/>
            </a:pPr>
            <a:endParaRPr lang="en-US" altLang="en-GB" sz="1700" b="1">
              <a:latin typeface="Times New Roman" panose="02020603050405020304" charset="0"/>
              <a:cs typeface="Times New Roman" panose="02020603050405020304" charset="0"/>
            </a:endParaRPr>
          </a:p>
          <a:p>
            <a:pPr marL="0" indent="0" algn="l">
              <a:buNone/>
            </a:pPr>
            <a:endParaRPr lang="en-US" altLang="en-GB" sz="1700" b="1">
              <a:latin typeface="Times New Roman" panose="02020603050405020304" charset="0"/>
              <a:cs typeface="Times New Roman" panose="02020603050405020304" charset="0"/>
            </a:endParaRPr>
          </a:p>
          <a:p>
            <a:pPr marL="0" indent="0" algn="l">
              <a:buNone/>
            </a:pPr>
            <a:endParaRPr lang="en-US" altLang="en-GB" sz="1700" b="1">
              <a:latin typeface="Times New Roman" panose="02020603050405020304" charset="0"/>
              <a:cs typeface="Times New Roman" panose="02020603050405020304" charset="0"/>
            </a:endParaRPr>
          </a:p>
          <a:p>
            <a:pPr marL="0" indent="0" algn="l">
              <a:buNone/>
            </a:pPr>
            <a:r>
              <a:rPr lang="en-US" altLang="en-GB" sz="1700" b="1">
                <a:latin typeface="Times New Roman" panose="02020603050405020304" charset="0"/>
                <a:cs typeface="Times New Roman" panose="02020603050405020304" charset="0"/>
              </a:rPr>
              <a:t>Insights:</a:t>
            </a:r>
            <a:endParaRPr lang="en-US" altLang="en-GB" sz="1700">
              <a:latin typeface="Times New Roman" panose="02020603050405020304" charset="0"/>
              <a:cs typeface="Times New Roman" panose="02020603050405020304" charset="0"/>
            </a:endParaRPr>
          </a:p>
          <a:p>
            <a:pPr marL="800100" lvl="1" indent="-342900" algn="l">
              <a:buFont typeface="+mj-lt"/>
              <a:buAutoNum type="arabicPeriod"/>
            </a:pPr>
            <a:r>
              <a:rPr lang="en-US" altLang="en-GB" sz="1800" i="1">
                <a:latin typeface="Times New Roman" panose="02020603050405020304" charset="0"/>
                <a:cs typeface="Times New Roman" panose="02020603050405020304" charset="0"/>
              </a:rPr>
              <a:t>Cluster 0</a:t>
            </a:r>
            <a:r>
              <a:rPr lang="en-US" altLang="en-GB" sz="1800">
                <a:latin typeface="Times New Roman" panose="02020603050405020304" charset="0"/>
                <a:cs typeface="Times New Roman" panose="02020603050405020304" charset="0"/>
              </a:rPr>
              <a:t>: Low growth, low PSS (e.g., aging or saturated populations)</a:t>
            </a:r>
            <a:endParaRPr lang="en-US" altLang="en-GB" sz="1800">
              <a:latin typeface="Times New Roman" panose="02020603050405020304" charset="0"/>
              <a:cs typeface="Times New Roman" panose="02020603050405020304" charset="0"/>
            </a:endParaRPr>
          </a:p>
          <a:p>
            <a:pPr marL="800100" lvl="1" indent="-342900" algn="l">
              <a:buFont typeface="+mj-lt"/>
              <a:buAutoNum type="arabicPeriod"/>
            </a:pPr>
            <a:r>
              <a:rPr lang="en-US" altLang="en-GB" sz="1800" i="1">
                <a:latin typeface="Times New Roman" panose="02020603050405020304" charset="0"/>
                <a:cs typeface="Times New Roman" panose="02020603050405020304" charset="0"/>
              </a:rPr>
              <a:t>Cluster 1</a:t>
            </a:r>
            <a:r>
              <a:rPr lang="en-US" altLang="en-GB" sz="1800">
                <a:latin typeface="Times New Roman" panose="02020603050405020304" charset="0"/>
                <a:cs typeface="Times New Roman" panose="02020603050405020304" charset="0"/>
              </a:rPr>
              <a:t>: Balanced</a:t>
            </a:r>
            <a:endParaRPr lang="en-US" altLang="en-GB" sz="1800">
              <a:latin typeface="Times New Roman" panose="02020603050405020304" charset="0"/>
              <a:cs typeface="Times New Roman" panose="02020603050405020304" charset="0"/>
            </a:endParaRPr>
          </a:p>
          <a:p>
            <a:pPr marL="800100" lvl="1" indent="-342900" algn="l">
              <a:buFont typeface="+mj-lt"/>
              <a:buAutoNum type="arabicPeriod"/>
            </a:pPr>
            <a:r>
              <a:rPr lang="en-US" altLang="en-GB" sz="1800" i="1">
                <a:latin typeface="Times New Roman" panose="02020603050405020304" charset="0"/>
                <a:cs typeface="Times New Roman" panose="02020603050405020304" charset="0"/>
              </a:rPr>
              <a:t>Cluster 2</a:t>
            </a:r>
            <a:r>
              <a:rPr lang="en-US" altLang="en-GB" sz="1800">
                <a:latin typeface="Times New Roman" panose="02020603050405020304" charset="0"/>
                <a:cs typeface="Times New Roman" panose="02020603050405020304" charset="0"/>
              </a:rPr>
              <a:t>: High growth, high PSS</a:t>
            </a:r>
            <a:endParaRPr lang="en-US" altLang="en-GB" sz="17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195580" y="1804035"/>
            <a:ext cx="11480800" cy="36106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957320" y="0"/>
            <a:ext cx="4333240" cy="1325880"/>
          </a:xfrm>
        </p:spPr>
        <p:txBody>
          <a:bodyPr>
            <a:normAutofit/>
          </a:bodyPr>
          <a:p>
            <a:r>
              <a:rPr lang="en-US" altLang="en-GB" sz="3200" b="1">
                <a:latin typeface="Times New Roman" panose="02020603050405020304" charset="0"/>
                <a:cs typeface="Times New Roman" panose="02020603050405020304" charset="0"/>
              </a:rPr>
              <a:t>Population Forecasting</a:t>
            </a:r>
            <a:endParaRPr lang="en-US" altLang="en-GB" sz="32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84530" y="950595"/>
            <a:ext cx="4910455" cy="1168400"/>
          </a:xfrm>
        </p:spPr>
        <p:txBody>
          <a:bodyPr>
            <a:noAutofit/>
          </a:bodyPr>
          <a:p>
            <a:pPr marL="0" indent="0" algn="l">
              <a:buNone/>
            </a:pPr>
            <a:r>
              <a:rPr lang="en-US" altLang="en-GB" sz="1700" b="1">
                <a:latin typeface="Times New Roman" panose="02020603050405020304" charset="0"/>
                <a:cs typeface="Times New Roman" panose="02020603050405020304" charset="0"/>
              </a:rPr>
              <a:t>Example:</a:t>
            </a:r>
            <a:r>
              <a:rPr lang="en-US" altLang="en-GB" sz="1700">
                <a:latin typeface="Times New Roman" panose="02020603050405020304" charset="0"/>
                <a:cs typeface="Times New Roman" panose="02020603050405020304" charset="0"/>
              </a:rPr>
              <a:t> India</a:t>
            </a:r>
            <a:endParaRPr lang="en-US" altLang="en-GB" sz="1700">
              <a:latin typeface="Times New Roman" panose="02020603050405020304" charset="0"/>
              <a:cs typeface="Times New Roman" panose="02020603050405020304" charset="0"/>
            </a:endParaRPr>
          </a:p>
          <a:p>
            <a:pPr marL="0" indent="0" algn="l">
              <a:buNone/>
            </a:pPr>
            <a:r>
              <a:rPr lang="en-US" altLang="en-GB" sz="1700" b="1">
                <a:latin typeface="Times New Roman" panose="02020603050405020304" charset="0"/>
                <a:cs typeface="Times New Roman" panose="02020603050405020304" charset="0"/>
              </a:rPr>
              <a:t>Plot:</a:t>
            </a:r>
            <a:r>
              <a:rPr lang="en-US" altLang="en-GB" sz="1700">
                <a:latin typeface="Times New Roman" panose="02020603050405020304" charset="0"/>
                <a:cs typeface="Times New Roman" panose="02020603050405020304" charset="0"/>
              </a:rPr>
              <a:t> Historical vs Predicted</a:t>
            </a:r>
            <a:endParaRPr lang="en-US" altLang="en-GB" sz="1700">
              <a:latin typeface="Times New Roman" panose="02020603050405020304" charset="0"/>
              <a:cs typeface="Times New Roman" panose="02020603050405020304" charset="0"/>
            </a:endParaRPr>
          </a:p>
          <a:p>
            <a:pPr marL="0" indent="0" algn="l">
              <a:buNone/>
            </a:pPr>
            <a:r>
              <a:rPr lang="en-US" altLang="en-GB" sz="1700" b="1">
                <a:latin typeface="Times New Roman" panose="02020603050405020304" charset="0"/>
                <a:cs typeface="Times New Roman" panose="02020603050405020304" charset="0"/>
              </a:rPr>
              <a:t>Insights:</a:t>
            </a:r>
            <a:r>
              <a:rPr lang="en-US" altLang="en-GB" sz="1700">
                <a:latin typeface="Times New Roman" panose="02020603050405020304" charset="0"/>
                <a:cs typeface="Times New Roman" panose="02020603050405020304" charset="0"/>
              </a:rPr>
              <a:t> Growth pattern, potential implications</a:t>
            </a:r>
            <a:endParaRPr lang="en-US" altLang="en-GB" sz="170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rcRect t="1479"/>
          <a:stretch>
            <a:fillRect/>
          </a:stretch>
        </p:blipFill>
        <p:spPr>
          <a:xfrm>
            <a:off x="684530" y="2021840"/>
            <a:ext cx="8496300" cy="46558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724025" y="742950"/>
            <a:ext cx="2921635" cy="1325880"/>
          </a:xfrm>
        </p:spPr>
        <p:txBody>
          <a:bodyPr/>
          <a:p>
            <a:r>
              <a:rPr lang="en-IN" altLang="en-US" sz="3600" b="1">
                <a:latin typeface="Times New Roman" panose="02020603050405020304" charset="0"/>
                <a:cs typeface="Times New Roman" panose="02020603050405020304" charset="0"/>
              </a:rPr>
              <a:t>My </a:t>
            </a:r>
            <a:r>
              <a:rPr lang="en-US" altLang="en-GB" sz="3600" b="1">
                <a:latin typeface="Times New Roman" panose="02020603050405020304" charset="0"/>
                <a:cs typeface="Times New Roman" panose="02020603050405020304" charset="0"/>
              </a:rPr>
              <a:t>Novelty</a:t>
            </a:r>
            <a:endParaRPr lang="en-US" altLang="en-GB" sz="3600" b="1">
              <a:latin typeface="Times New Roman" panose="02020603050405020304" charset="0"/>
              <a:cs typeface="Times New Roman" panose="02020603050405020304" charset="0"/>
            </a:endParaRPr>
          </a:p>
        </p:txBody>
      </p:sp>
      <p:sp>
        <p:nvSpPr>
          <p:cNvPr id="5" name="Text Box 4"/>
          <p:cNvSpPr txBox="1"/>
          <p:nvPr/>
        </p:nvSpPr>
        <p:spPr>
          <a:xfrm>
            <a:off x="624840" y="2068830"/>
            <a:ext cx="5023485" cy="3969385"/>
          </a:xfrm>
          <a:prstGeom prst="rect">
            <a:avLst/>
          </a:prstGeom>
          <a:noFill/>
        </p:spPr>
        <p:txBody>
          <a:bodyPr wrap="square" rtlCol="0">
            <a:spAutoFit/>
          </a:bodyPr>
          <a:p>
            <a:pPr marL="285750" indent="-285750">
              <a:buFont typeface="Wingdings" panose="05000000000000000000" charset="0"/>
              <a:buChar char="ü"/>
            </a:pPr>
            <a:r>
              <a:rPr lang="en-US" altLang="en-GB" b="1">
                <a:latin typeface="Times New Roman" panose="02020603050405020304" charset="0"/>
                <a:cs typeface="Times New Roman" panose="02020603050405020304" charset="0"/>
              </a:rPr>
              <a:t>New Metric:</a:t>
            </a:r>
            <a:r>
              <a:rPr lang="en-US" altLang="en-GB">
                <a:latin typeface="Times New Roman" panose="02020603050405020304" charset="0"/>
                <a:cs typeface="Times New Roman" panose="02020603050405020304" charset="0"/>
              </a:rPr>
              <a:t> Created the </a:t>
            </a:r>
            <a:r>
              <a:rPr lang="en-US" altLang="en-GB" b="1">
                <a:latin typeface="Times New Roman" panose="02020603050405020304" charset="0"/>
                <a:cs typeface="Times New Roman" panose="02020603050405020304" charset="0"/>
              </a:rPr>
              <a:t>Population Sustainability Score (PSS)</a:t>
            </a:r>
            <a:r>
              <a:rPr lang="en-US" altLang="en-GB">
                <a:latin typeface="Times New Roman" panose="02020603050405020304" charset="0"/>
                <a:cs typeface="Times New Roman" panose="02020603050405020304" charset="0"/>
              </a:rPr>
              <a:t> using growth rate and population density.</a:t>
            </a:r>
            <a:endParaRPr lang="en-US" altLang="en-GB">
              <a:latin typeface="Times New Roman" panose="02020603050405020304" charset="0"/>
              <a:cs typeface="Times New Roman" panose="02020603050405020304" charset="0"/>
            </a:endParaRPr>
          </a:p>
          <a:p>
            <a:pPr marL="285750" indent="-285750">
              <a:buFont typeface="Wingdings" panose="05000000000000000000" charset="0"/>
              <a:buChar char="ü"/>
            </a:pPr>
            <a:endParaRPr lang="en-US" altLang="en-GB">
              <a:latin typeface="Times New Roman" panose="02020603050405020304" charset="0"/>
              <a:cs typeface="Times New Roman" panose="02020603050405020304" charset="0"/>
            </a:endParaRPr>
          </a:p>
          <a:p>
            <a:pPr marL="285750" indent="-285750">
              <a:buFont typeface="Wingdings" panose="05000000000000000000" charset="0"/>
              <a:buChar char="ü"/>
            </a:pPr>
            <a:r>
              <a:rPr lang="en-US" altLang="en-GB" b="1">
                <a:latin typeface="Times New Roman" panose="02020603050405020304" charset="0"/>
                <a:cs typeface="Times New Roman" panose="02020603050405020304" charset="0"/>
              </a:rPr>
              <a:t>Cluster Analysis:</a:t>
            </a:r>
            <a:r>
              <a:rPr lang="en-US" altLang="en-GB">
                <a:latin typeface="Times New Roman" panose="02020603050405020304" charset="0"/>
                <a:cs typeface="Times New Roman" panose="02020603050405020304" charset="0"/>
              </a:rPr>
              <a:t> Grouped countries based on both growth and sustainability, not just population size.</a:t>
            </a:r>
            <a:endParaRPr lang="en-US" altLang="en-GB">
              <a:latin typeface="Times New Roman" panose="02020603050405020304" charset="0"/>
              <a:cs typeface="Times New Roman" panose="02020603050405020304" charset="0"/>
            </a:endParaRPr>
          </a:p>
          <a:p>
            <a:pPr indent="0">
              <a:buFont typeface="Wingdings" panose="05000000000000000000" charset="0"/>
              <a:buNone/>
            </a:pPr>
            <a:endParaRPr lang="en-US" altLang="en-GB">
              <a:latin typeface="Times New Roman" panose="02020603050405020304" charset="0"/>
              <a:cs typeface="Times New Roman" panose="02020603050405020304" charset="0"/>
            </a:endParaRPr>
          </a:p>
          <a:p>
            <a:pPr marL="285750" indent="-285750">
              <a:buFont typeface="Wingdings" panose="05000000000000000000" charset="0"/>
              <a:buChar char="ü"/>
            </a:pPr>
            <a:r>
              <a:rPr lang="en-US" altLang="en-GB" b="1">
                <a:latin typeface="Times New Roman" panose="02020603050405020304" charset="0"/>
                <a:cs typeface="Times New Roman" panose="02020603050405020304" charset="0"/>
              </a:rPr>
              <a:t>Forecasting:</a:t>
            </a:r>
            <a:r>
              <a:rPr lang="en-US" altLang="en-GB">
                <a:latin typeface="Times New Roman" panose="02020603050405020304" charset="0"/>
                <a:cs typeface="Times New Roman" panose="02020603050405020304" charset="0"/>
              </a:rPr>
              <a:t> Used Polynomial Regression for more accurate long-term population predictions.</a:t>
            </a:r>
            <a:endParaRPr lang="en-US" altLang="en-GB">
              <a:latin typeface="Times New Roman" panose="02020603050405020304" charset="0"/>
              <a:cs typeface="Times New Roman" panose="02020603050405020304" charset="0"/>
            </a:endParaRPr>
          </a:p>
          <a:p>
            <a:pPr marL="285750" indent="-285750">
              <a:buFont typeface="Wingdings" panose="05000000000000000000" charset="0"/>
              <a:buChar char="ü"/>
            </a:pPr>
            <a:endParaRPr lang="en-US" altLang="en-GB">
              <a:latin typeface="Times New Roman" panose="02020603050405020304" charset="0"/>
              <a:cs typeface="Times New Roman" panose="02020603050405020304" charset="0"/>
            </a:endParaRPr>
          </a:p>
          <a:p>
            <a:pPr marL="285750" indent="-285750">
              <a:buFont typeface="Wingdings" panose="05000000000000000000" charset="0"/>
              <a:buChar char="ü"/>
            </a:pPr>
            <a:r>
              <a:rPr lang="en-US" altLang="en-GB" b="1">
                <a:latin typeface="Times New Roman" panose="02020603050405020304" charset="0"/>
                <a:cs typeface="Times New Roman" panose="02020603050405020304" charset="0"/>
              </a:rPr>
              <a:t>Comprehensive Insights:</a:t>
            </a:r>
            <a:r>
              <a:rPr lang="en-US" altLang="en-GB">
                <a:latin typeface="Times New Roman" panose="02020603050405020304" charset="0"/>
                <a:cs typeface="Times New Roman" panose="02020603050405020304" charset="0"/>
              </a:rPr>
              <a:t> Combined clustering and forecasting for a deeper understanding of global trends.</a:t>
            </a:r>
            <a:endParaRPr lang="en-US" altLang="en-GB">
              <a:latin typeface="Times New Roman" panose="02020603050405020304" charset="0"/>
              <a:cs typeface="Times New Roman" panose="02020603050405020304" charset="0"/>
            </a:endParaRPr>
          </a:p>
        </p:txBody>
      </p:sp>
      <p:sp>
        <p:nvSpPr>
          <p:cNvPr id="6" name="Title 3"/>
          <p:cNvSpPr>
            <a:spLocks noGrp="1"/>
          </p:cNvSpPr>
          <p:nvPr/>
        </p:nvSpPr>
        <p:spPr>
          <a:xfrm>
            <a:off x="7888605" y="742950"/>
            <a:ext cx="2907665"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3600" b="1">
                <a:latin typeface="Times New Roman" panose="02020603050405020304" charset="0"/>
                <a:cs typeface="Times New Roman" panose="02020603050405020304" charset="0"/>
              </a:rPr>
              <a:t>Future Scope</a:t>
            </a:r>
            <a:endParaRPr lang="en-IN" altLang="en-US" sz="3600" b="1">
              <a:latin typeface="Times New Roman" panose="02020603050405020304" charset="0"/>
              <a:cs typeface="Times New Roman" panose="02020603050405020304" charset="0"/>
            </a:endParaRPr>
          </a:p>
        </p:txBody>
      </p:sp>
      <p:sp>
        <p:nvSpPr>
          <p:cNvPr id="7" name="Text Box 6"/>
          <p:cNvSpPr txBox="1"/>
          <p:nvPr/>
        </p:nvSpPr>
        <p:spPr>
          <a:xfrm>
            <a:off x="6879590" y="2068830"/>
            <a:ext cx="4925695" cy="3138170"/>
          </a:xfrm>
          <a:prstGeom prst="rect">
            <a:avLst/>
          </a:prstGeom>
          <a:noFill/>
        </p:spPr>
        <p:txBody>
          <a:bodyPr wrap="square" rtlCol="0">
            <a:spAutoFit/>
          </a:bodyPr>
          <a:p>
            <a:pPr marL="285750" indent="-285750">
              <a:buFont typeface="Wingdings" panose="05000000000000000000" charset="0"/>
              <a:buChar char="ü"/>
            </a:pPr>
            <a:r>
              <a:rPr lang="en-US" altLang="en-GB" b="1">
                <a:latin typeface="Times New Roman" panose="02020603050405020304" charset="0"/>
                <a:cs typeface="Times New Roman" panose="02020603050405020304" charset="0"/>
              </a:rPr>
              <a:t>Add More Factors:</a:t>
            </a:r>
            <a:r>
              <a:rPr lang="en-US" altLang="en-GB">
                <a:latin typeface="Times New Roman" panose="02020603050405020304" charset="0"/>
                <a:cs typeface="Times New Roman" panose="02020603050405020304" charset="0"/>
              </a:rPr>
              <a:t> Include GDP, healthcare, and education to improve sustainability scores.</a:t>
            </a:r>
            <a:endParaRPr lang="en-US" altLang="en-GB">
              <a:latin typeface="Times New Roman" panose="02020603050405020304" charset="0"/>
              <a:cs typeface="Times New Roman" panose="02020603050405020304" charset="0"/>
            </a:endParaRPr>
          </a:p>
          <a:p>
            <a:pPr marL="285750" indent="-285750">
              <a:buFont typeface="Wingdings" panose="05000000000000000000" charset="0"/>
              <a:buChar char="ü"/>
            </a:pPr>
            <a:endParaRPr lang="en-US" altLang="en-GB">
              <a:latin typeface="Times New Roman" panose="02020603050405020304" charset="0"/>
              <a:cs typeface="Times New Roman" panose="02020603050405020304" charset="0"/>
            </a:endParaRPr>
          </a:p>
          <a:p>
            <a:pPr marL="285750" indent="-285750">
              <a:buFont typeface="Wingdings" panose="05000000000000000000" charset="0"/>
              <a:buChar char="ü"/>
            </a:pPr>
            <a:r>
              <a:rPr lang="en-US" altLang="en-GB" b="1">
                <a:latin typeface="Times New Roman" panose="02020603050405020304" charset="0"/>
                <a:cs typeface="Times New Roman" panose="02020603050405020304" charset="0"/>
              </a:rPr>
              <a:t>Advanced Forecasting:</a:t>
            </a:r>
            <a:r>
              <a:rPr lang="en-US" altLang="en-GB">
                <a:latin typeface="Times New Roman" panose="02020603050405020304" charset="0"/>
                <a:cs typeface="Times New Roman" panose="02020603050405020304" charset="0"/>
              </a:rPr>
              <a:t> Try models like ARIMA or LSTM for better predictions.</a:t>
            </a:r>
            <a:endParaRPr lang="en-US" altLang="en-GB">
              <a:latin typeface="Times New Roman" panose="02020603050405020304" charset="0"/>
              <a:cs typeface="Times New Roman" panose="02020603050405020304" charset="0"/>
            </a:endParaRPr>
          </a:p>
          <a:p>
            <a:pPr marL="285750" indent="-285750">
              <a:buFont typeface="Wingdings" panose="05000000000000000000" charset="0"/>
              <a:buChar char="ü"/>
            </a:pPr>
            <a:endParaRPr lang="en-US" altLang="en-GB">
              <a:latin typeface="Times New Roman" panose="02020603050405020304" charset="0"/>
              <a:cs typeface="Times New Roman" panose="02020603050405020304" charset="0"/>
            </a:endParaRPr>
          </a:p>
          <a:p>
            <a:pPr marL="285750" indent="-285750">
              <a:buFont typeface="Wingdings" panose="05000000000000000000" charset="0"/>
              <a:buChar char="ü"/>
            </a:pPr>
            <a:r>
              <a:rPr lang="en-US" altLang="en-GB" b="1">
                <a:latin typeface="Times New Roman" panose="02020603050405020304" charset="0"/>
                <a:cs typeface="Times New Roman" panose="02020603050405020304" charset="0"/>
              </a:rPr>
              <a:t>Real-time Data:</a:t>
            </a:r>
            <a:r>
              <a:rPr lang="en-US" altLang="en-GB">
                <a:latin typeface="Times New Roman" panose="02020603050405020304" charset="0"/>
                <a:cs typeface="Times New Roman" panose="02020603050405020304" charset="0"/>
              </a:rPr>
              <a:t> Use live data for up-to-date forecasting.</a:t>
            </a:r>
            <a:endParaRPr lang="en-US" altLang="en-GB">
              <a:latin typeface="Times New Roman" panose="02020603050405020304" charset="0"/>
              <a:cs typeface="Times New Roman" panose="02020603050405020304" charset="0"/>
            </a:endParaRPr>
          </a:p>
          <a:p>
            <a:pPr marL="285750" indent="-285750">
              <a:buFont typeface="Wingdings" panose="05000000000000000000" charset="0"/>
              <a:buChar char="ü"/>
            </a:pPr>
            <a:endParaRPr lang="en-US" altLang="en-GB">
              <a:latin typeface="Times New Roman" panose="02020603050405020304" charset="0"/>
              <a:cs typeface="Times New Roman" panose="02020603050405020304" charset="0"/>
            </a:endParaRPr>
          </a:p>
          <a:p>
            <a:pPr marL="285750" indent="-285750">
              <a:buFont typeface="Wingdings" panose="05000000000000000000" charset="0"/>
              <a:buChar char="ü"/>
            </a:pPr>
            <a:r>
              <a:rPr lang="en-US" altLang="en-GB" b="1">
                <a:latin typeface="Times New Roman" panose="02020603050405020304" charset="0"/>
                <a:cs typeface="Times New Roman" panose="02020603050405020304" charset="0"/>
              </a:rPr>
              <a:t>Interactive Dashboard:</a:t>
            </a:r>
            <a:r>
              <a:rPr lang="en-US" altLang="en-GB">
                <a:latin typeface="Times New Roman" panose="02020603050405020304" charset="0"/>
                <a:cs typeface="Times New Roman" panose="02020603050405020304" charset="0"/>
              </a:rPr>
              <a:t> Create a dashboard to visualize trends and forecasts easily.</a:t>
            </a:r>
            <a:endParaRPr lang="en-US" altLang="en-GB">
              <a:latin typeface="Times New Roman" panose="02020603050405020304" charset="0"/>
              <a:cs typeface="Times New Roman" panose="02020603050405020304" charset="0"/>
            </a:endParaRPr>
          </a:p>
        </p:txBody>
      </p:sp>
      <p:pic>
        <p:nvPicPr>
          <p:cNvPr id="9" name="Image 1" descr="preencoded.png"/>
          <p:cNvPicPr>
            <a:picLocks noChangeAspect="1"/>
          </p:cNvPicPr>
          <p:nvPr/>
        </p:nvPicPr>
        <p:blipFill>
          <a:blip r:embed="rId1">
            <a:alphaModFix amt="40000"/>
          </a:blip>
          <a:stretch>
            <a:fillRect/>
          </a:stretch>
        </p:blipFill>
        <p:spPr>
          <a:xfrm>
            <a:off x="1056323" y="1175703"/>
            <a:ext cx="459105" cy="459105"/>
          </a:xfrm>
          <a:prstGeom prst="rect">
            <a:avLst/>
          </a:prstGeom>
        </p:spPr>
      </p:pic>
      <p:pic>
        <p:nvPicPr>
          <p:cNvPr id="11" name="Image 2" descr="preencoded.png"/>
          <p:cNvPicPr>
            <a:picLocks noChangeAspect="1"/>
          </p:cNvPicPr>
          <p:nvPr/>
        </p:nvPicPr>
        <p:blipFill>
          <a:blip r:embed="rId2">
            <a:alphaModFix amt="40000"/>
          </a:blip>
          <a:stretch>
            <a:fillRect/>
          </a:stretch>
        </p:blipFill>
        <p:spPr>
          <a:xfrm>
            <a:off x="7263130" y="1176020"/>
            <a:ext cx="458470" cy="4584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4726940" y="0"/>
            <a:ext cx="2738755" cy="1325880"/>
          </a:xfrm>
        </p:spPr>
        <p:txBody>
          <a:bodyPr/>
          <a:p>
            <a:r>
              <a:rPr lang="en-IN" altLang="en-US" sz="3600" b="1">
                <a:latin typeface="Times New Roman" panose="02020603050405020304" charset="0"/>
                <a:cs typeface="Times New Roman" panose="02020603050405020304" charset="0"/>
              </a:rPr>
              <a:t>Conclusion</a:t>
            </a:r>
            <a:endParaRPr lang="en-IN" altLang="en-US" sz="3600" b="1">
              <a:latin typeface="Times New Roman" panose="02020603050405020304" charset="0"/>
              <a:cs typeface="Times New Roman" panose="02020603050405020304" charset="0"/>
            </a:endParaRPr>
          </a:p>
        </p:txBody>
      </p:sp>
      <p:sp>
        <p:nvSpPr>
          <p:cNvPr id="5" name="Text Box 4"/>
          <p:cNvSpPr txBox="1"/>
          <p:nvPr/>
        </p:nvSpPr>
        <p:spPr>
          <a:xfrm>
            <a:off x="1295400" y="1325880"/>
            <a:ext cx="9601835" cy="4246245"/>
          </a:xfrm>
          <a:prstGeom prst="rect">
            <a:avLst/>
          </a:prstGeom>
          <a:noFill/>
        </p:spPr>
        <p:txBody>
          <a:bodyPr wrap="square" rtlCol="0">
            <a:spAutoFit/>
          </a:bodyPr>
          <a:p>
            <a:pPr algn="ctr">
              <a:lnSpc>
                <a:spcPct val="150000"/>
              </a:lnSpc>
            </a:pPr>
            <a:r>
              <a:rPr lang="en-IN" altLang="en-US">
                <a:latin typeface="Times New Roman" panose="02020603050405020304" charset="0"/>
                <a:cs typeface="Times New Roman" panose="02020603050405020304" charset="0"/>
              </a:rPr>
              <a:t>My</a:t>
            </a:r>
            <a:r>
              <a:rPr lang="en-US" altLang="en-GB">
                <a:latin typeface="Times New Roman" panose="02020603050405020304" charset="0"/>
                <a:cs typeface="Times New Roman" panose="02020603050405020304" charset="0"/>
              </a:rPr>
              <a:t> project successfully analyzed global population trends, focusing on sustainability and growth patterns. By introducing the </a:t>
            </a:r>
            <a:r>
              <a:rPr lang="en-US" altLang="en-GB" b="1">
                <a:latin typeface="Times New Roman" panose="02020603050405020304" charset="0"/>
                <a:cs typeface="Times New Roman" panose="02020603050405020304" charset="0"/>
              </a:rPr>
              <a:t>Population Sustainability Score (PSS)</a:t>
            </a:r>
            <a:r>
              <a:rPr lang="en-US" altLang="en-GB">
                <a:latin typeface="Times New Roman" panose="02020603050405020304" charset="0"/>
                <a:cs typeface="Times New Roman" panose="02020603050405020304" charset="0"/>
              </a:rPr>
              <a:t>, were able to assess and compare countries based on their growth and density in a more meaningful way.</a:t>
            </a:r>
            <a:endParaRPr lang="en-US" altLang="en-GB">
              <a:latin typeface="Times New Roman" panose="02020603050405020304" charset="0"/>
              <a:cs typeface="Times New Roman" panose="02020603050405020304" charset="0"/>
            </a:endParaRPr>
          </a:p>
          <a:p>
            <a:pPr algn="ctr">
              <a:lnSpc>
                <a:spcPct val="150000"/>
              </a:lnSpc>
            </a:pPr>
            <a:endParaRPr lang="en-US" altLang="en-GB">
              <a:latin typeface="Times New Roman" panose="02020603050405020304" charset="0"/>
              <a:cs typeface="Times New Roman" panose="02020603050405020304" charset="0"/>
            </a:endParaRPr>
          </a:p>
          <a:p>
            <a:pPr algn="ctr">
              <a:lnSpc>
                <a:spcPct val="150000"/>
              </a:lnSpc>
            </a:pPr>
            <a:r>
              <a:rPr lang="en-US" altLang="en-GB">
                <a:latin typeface="Times New Roman" panose="02020603050405020304" charset="0"/>
                <a:cs typeface="Times New Roman" panose="02020603050405020304" charset="0"/>
              </a:rPr>
              <a:t>Through clustering, </a:t>
            </a:r>
            <a:r>
              <a:rPr lang="en-IN" altLang="en-US">
                <a:latin typeface="Times New Roman" panose="02020603050405020304" charset="0"/>
                <a:cs typeface="Times New Roman" panose="02020603050405020304" charset="0"/>
              </a:rPr>
              <a:t>I</a:t>
            </a:r>
            <a:r>
              <a:rPr lang="en-US" altLang="en-GB">
                <a:latin typeface="Times New Roman" panose="02020603050405020304" charset="0"/>
                <a:cs typeface="Times New Roman" panose="02020603050405020304" charset="0"/>
              </a:rPr>
              <a:t> identified different groups of countries with similar population dynamics, providing valuable insights into their sustainability. The </a:t>
            </a:r>
            <a:r>
              <a:rPr lang="en-US" altLang="en-GB" b="1">
                <a:latin typeface="Times New Roman" panose="02020603050405020304" charset="0"/>
                <a:cs typeface="Times New Roman" panose="02020603050405020304" charset="0"/>
              </a:rPr>
              <a:t>Polynomial Regression</a:t>
            </a:r>
            <a:r>
              <a:rPr lang="en-US" altLang="en-GB">
                <a:latin typeface="Times New Roman" panose="02020603050405020304" charset="0"/>
                <a:cs typeface="Times New Roman" panose="02020603050405020304" charset="0"/>
              </a:rPr>
              <a:t> model enabled us to forecast future population trends, giving us a glimpse into potential demographic changes up to 2040.</a:t>
            </a:r>
            <a:endParaRPr lang="en-US" altLang="en-GB">
              <a:latin typeface="Times New Roman" panose="02020603050405020304" charset="0"/>
              <a:cs typeface="Times New Roman" panose="02020603050405020304" charset="0"/>
            </a:endParaRPr>
          </a:p>
          <a:p>
            <a:pPr algn="ctr">
              <a:lnSpc>
                <a:spcPct val="150000"/>
              </a:lnSpc>
            </a:pPr>
            <a:endParaRPr lang="en-US" altLang="en-GB">
              <a:latin typeface="Times New Roman" panose="02020603050405020304" charset="0"/>
              <a:cs typeface="Times New Roman" panose="02020603050405020304" charset="0"/>
            </a:endParaRPr>
          </a:p>
          <a:p>
            <a:pPr algn="ctr">
              <a:lnSpc>
                <a:spcPct val="150000"/>
              </a:lnSpc>
            </a:pPr>
            <a:r>
              <a:rPr lang="en-US" altLang="en-GB">
                <a:latin typeface="Times New Roman" panose="02020603050405020304" charset="0"/>
                <a:cs typeface="Times New Roman" panose="02020603050405020304" charset="0"/>
              </a:rPr>
              <a:t>Overall, </a:t>
            </a:r>
            <a:r>
              <a:rPr lang="en-IN" altLang="en-US">
                <a:latin typeface="Times New Roman" panose="02020603050405020304" charset="0"/>
                <a:cs typeface="Times New Roman" panose="02020603050405020304" charset="0"/>
              </a:rPr>
              <a:t>my </a:t>
            </a:r>
            <a:r>
              <a:rPr lang="en-US" altLang="en-GB">
                <a:latin typeface="Times New Roman" panose="02020603050405020304" charset="0"/>
                <a:cs typeface="Times New Roman" panose="02020603050405020304" charset="0"/>
              </a:rPr>
              <a:t>project demonstrates the power of data analysis in understanding global trends and offers a foundation for future work in demographic forecasting and sustainability planning.</a:t>
            </a:r>
            <a:endParaRPr lang="en-US" altLang="en-GB">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0" y="0"/>
            <a:ext cx="12191365" cy="6858000"/>
          </a:xfrm>
          <a:prstGeom prst="rect">
            <a:avLst/>
          </a:prstGeom>
        </p:spPr>
      </p:pic>
      <p:sp>
        <p:nvSpPr>
          <p:cNvPr id="5" name="Text Box 4"/>
          <p:cNvSpPr txBox="1"/>
          <p:nvPr/>
        </p:nvSpPr>
        <p:spPr>
          <a:xfrm>
            <a:off x="7682230" y="6009005"/>
            <a:ext cx="4509135" cy="848995"/>
          </a:xfrm>
          <a:prstGeom prst="rect">
            <a:avLst/>
          </a:prstGeom>
          <a:noFill/>
        </p:spPr>
        <p:txBody>
          <a:bodyPr wrap="square" rtlCol="0">
            <a:noAutofit/>
          </a:bodyPr>
          <a:p>
            <a:pPr algn="ctr">
              <a:defRPr sz="3600" b="1">
                <a:solidFill>
                  <a:srgbClr val="003366"/>
                </a:solidFill>
              </a:defRPr>
            </a:pPr>
            <a:r>
              <a:rPr lang="en-IN" sz="4800">
                <a:solidFill>
                  <a:srgbClr val="FFC000"/>
                </a:solidFill>
                <a:latin typeface="Broadway" panose="04040905080B02020502" charset="0"/>
                <a:cs typeface="Broadway" panose="04040905080B02020502" charset="0"/>
                <a:sym typeface="+mn-ea"/>
              </a:rPr>
              <a:t>Thank You</a:t>
            </a:r>
            <a:endParaRPr lang="en-IN" sz="4800">
              <a:solidFill>
                <a:srgbClr val="FFC000"/>
              </a:solidFill>
              <a:latin typeface="Broadway" panose="04040905080B02020502" charset="0"/>
              <a:cs typeface="Broadway" panose="04040905080B02020502" charset="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3832</Words>
  <Application>WPS Slides</Application>
  <PresentationFormat>Widescreen</PresentationFormat>
  <Paragraphs>133</Paragraphs>
  <Slides>11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SimSun</vt:lpstr>
      <vt:lpstr>Wingdings</vt:lpstr>
      <vt:lpstr>Broadway</vt:lpstr>
      <vt:lpstr>Times New Roman</vt:lpstr>
      <vt:lpstr>adonis-web</vt:lpstr>
      <vt:lpstr>Wingdings</vt:lpstr>
      <vt:lpstr>Microsoft YaHei</vt:lpstr>
      <vt:lpstr>Arial Unicode MS</vt:lpstr>
      <vt:lpstr>Calibri Light</vt:lpstr>
      <vt:lpstr>Calibri</vt:lpstr>
      <vt:lpstr>Office Theme</vt:lpstr>
      <vt:lpstr>PowerPoint 演示文稿</vt:lpstr>
      <vt:lpstr>PowerPoint 演示文稿</vt:lpstr>
      <vt:lpstr>Introduction</vt:lpstr>
      <vt:lpstr>Project Workflow Overview</vt:lpstr>
      <vt:lpstr>Dataset Overview</vt:lpstr>
      <vt:lpstr>Data Preparation, Exploration &amp; ML Modeling</vt:lpstr>
      <vt:lpstr>What is Population Sustainability Score (PSS) ?</vt:lpstr>
      <vt:lpstr>What is Population Sustainability Score (PSS) ?</vt:lpstr>
      <vt:lpstr>My Novelty</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Sahana. S</cp:lastModifiedBy>
  <cp:revision>11</cp:revision>
  <dcterms:created xsi:type="dcterms:W3CDTF">2025-04-09T08:10:00Z</dcterms:created>
  <dcterms:modified xsi:type="dcterms:W3CDTF">2025-04-14T15:34:56Z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668E8555E35241488EE550C01D4BDE19_13</vt:lpwstr>
  </property>
  <property fmtid="{D5CDD505-2E9C-101B-9397-08002B2CF9AE}" pid="3" name="KSOProductBuildVer">
    <vt:lpwstr>2057-12.2.0.20755</vt:lpwstr>
  </property>
</Properties>
</file>